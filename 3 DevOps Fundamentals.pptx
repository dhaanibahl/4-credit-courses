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61" r:id="rId6"/>
    <p:sldId id="263" r:id="rId7"/>
    <p:sldId id="264" r:id="rId8"/>
    <p:sldId id="265" r:id="rId9"/>
    <p:sldId id="266" r:id="rId10"/>
    <p:sldId id="267" r:id="rId11"/>
    <p:sldId id="268" r:id="rId12"/>
    <p:sldId id="269" r:id="rId13"/>
    <p:sldId id="270" r:id="rId14"/>
    <p:sldId id="271" r:id="rId15"/>
    <p:sldId id="272" r:id="rId16"/>
    <p:sldId id="276" r:id="rId17"/>
    <p:sldId id="275" r:id="rId18"/>
    <p:sldId id="277" r:id="rId19"/>
    <p:sldId id="278" r:id="rId20"/>
    <p:sldId id="279" r:id="rId21"/>
    <p:sldId id="280" r:id="rId22"/>
    <p:sldId id="281" r:id="rId23"/>
    <p:sldId id="28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FCE667-6B9A-171C-3033-DE91EF1DE57E}" v="77" dt="2025-01-24T01:45:32.347"/>
    <p1510:client id="{B318F218-9284-DC7D-7845-497FE808A7C7}" v="71" dt="2025-01-24T05:13:06.127"/>
    <p1510:client id="{C2D42B61-264D-C288-9538-260D47A02891}" v="165" dt="2025-01-22T08:32:11.3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6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2/11/2025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 xmlns:a16="http://schemas.microsoft.com/office/drawing/2014/main" id="{B9D7E975-9161-4F2D-AC53-69E1912F6B5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ight Triangle 41">
            <a:extLst>
              <a:ext uri="{FF2B5EF4-FFF2-40B4-BE49-F238E27FC236}">
                <a16:creationId xmlns="" xmlns:a16="http://schemas.microsoft.com/office/drawing/2014/main" id="{827DC2C4-B485-428A-BF4A-472D2967F47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052497" y="1056640"/>
            <a:ext cx="3197660" cy="3125746"/>
          </a:xfrm>
        </p:spPr>
        <p:txBody>
          <a:bodyPr anchor="b">
            <a:normAutofit/>
          </a:bodyPr>
          <a:lstStyle/>
          <a:p>
            <a:pPr algn="l"/>
            <a:r>
              <a:rPr lang="en-US" sz="5000" dirty="0"/>
              <a:t/>
            </a:r>
            <a:br>
              <a:rPr lang="en-US" sz="5000" dirty="0"/>
            </a:br>
            <a:endParaRPr lang="en-US" sz="5000" dirty="0"/>
          </a:p>
        </p:txBody>
      </p:sp>
      <p:sp>
        <p:nvSpPr>
          <p:cNvPr id="3" name="Subtitle 2"/>
          <p:cNvSpPr>
            <a:spLocks noGrp="1"/>
          </p:cNvSpPr>
          <p:nvPr>
            <p:ph type="subTitle" idx="1"/>
          </p:nvPr>
        </p:nvSpPr>
        <p:spPr>
          <a:xfrm>
            <a:off x="8052496" y="4301656"/>
            <a:ext cx="2705619" cy="762618"/>
          </a:xfrm>
        </p:spPr>
        <p:txBody>
          <a:bodyPr anchor="t">
            <a:normAutofit/>
          </a:bodyPr>
          <a:lstStyle/>
          <a:p>
            <a:pPr algn="l"/>
            <a:r>
              <a:rPr lang="en-US" sz="2000"/>
              <a:t>   </a:t>
            </a:r>
          </a:p>
        </p:txBody>
      </p:sp>
      <p:pic>
        <p:nvPicPr>
          <p:cNvPr id="4" name="Picture 3" descr="A black and white logo&#10;&#10;AI-generated content may be incorrect.">
            <a:extLst>
              <a:ext uri="{FF2B5EF4-FFF2-40B4-BE49-F238E27FC236}">
                <a16:creationId xmlns="" xmlns:a16="http://schemas.microsoft.com/office/drawing/2014/main" id="{05B55EE7-14DB-A9C5-2713-A3A00D67778E}"/>
              </a:ext>
            </a:extLst>
          </p:cNvPr>
          <p:cNvPicPr>
            <a:picLocks noChangeAspect="1"/>
          </p:cNvPicPr>
          <p:nvPr/>
        </p:nvPicPr>
        <p:blipFill>
          <a:blip r:embed="rId2"/>
          <a:stretch>
            <a:fillRect/>
          </a:stretch>
        </p:blipFill>
        <p:spPr>
          <a:xfrm>
            <a:off x="10223261" y="6851"/>
            <a:ext cx="1808055" cy="623039"/>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86082" y="1244850"/>
            <a:ext cx="7105918" cy="3994176"/>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1412" y="1815151"/>
            <a:ext cx="5091569" cy="3120915"/>
          </a:xfrm>
          <a:prstGeom prst="rect">
            <a:avLst/>
          </a:prstGeom>
        </p:spPr>
      </p:pic>
    </p:spTree>
    <p:extLst>
      <p:ext uri="{BB962C8B-B14F-4D97-AF65-F5344CB8AC3E}">
        <p14:creationId xmlns:p14="http://schemas.microsoft.com/office/powerpoint/2010/main" val="1098572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4094619-4E3B-6896-A8BE-214D255113A0}"/>
              </a:ext>
            </a:extLst>
          </p:cNvPr>
          <p:cNvSpPr>
            <a:spLocks noGrp="1"/>
          </p:cNvSpPr>
          <p:nvPr>
            <p:ph type="title"/>
          </p:nvPr>
        </p:nvSpPr>
        <p:spPr/>
        <p:txBody>
          <a:bodyPr/>
          <a:lstStyle/>
          <a:p>
            <a:r>
              <a:rPr lang="en-US" b="1" dirty="0" smtClean="0">
                <a:latin typeface="Times New Roman"/>
                <a:cs typeface="Times New Roman"/>
              </a:rPr>
              <a:t>DevOps - Introduction</a:t>
            </a:r>
            <a:endParaRPr lang="en-US" b="1" dirty="0">
              <a:latin typeface="Times New Roman"/>
              <a:cs typeface="Times New Roman"/>
            </a:endParaRPr>
          </a:p>
        </p:txBody>
      </p:sp>
      <p:pic>
        <p:nvPicPr>
          <p:cNvPr id="19" name="Picture 18" descr="A black and white logo&#10;&#10;AI-generated content may be incorrect.">
            <a:extLst>
              <a:ext uri="{FF2B5EF4-FFF2-40B4-BE49-F238E27FC236}">
                <a16:creationId xmlns="" xmlns:a16="http://schemas.microsoft.com/office/drawing/2014/main" id="{560DDD64-AEEA-622F-CBCF-72DC3D60E208}"/>
              </a:ext>
            </a:extLst>
          </p:cNvPr>
          <p:cNvPicPr>
            <a:picLocks noChangeAspect="1"/>
          </p:cNvPicPr>
          <p:nvPr/>
        </p:nvPicPr>
        <p:blipFill>
          <a:blip r:embed="rId2"/>
          <a:stretch>
            <a:fillRect/>
          </a:stretch>
        </p:blipFill>
        <p:spPr>
          <a:xfrm>
            <a:off x="10661671" y="6851"/>
            <a:ext cx="1369645" cy="664793"/>
          </a:xfrm>
          <a:prstGeom prst="rect">
            <a:avLst/>
          </a:prstGeom>
        </p:spPr>
      </p:pic>
      <p:sp>
        <p:nvSpPr>
          <p:cNvPr id="3" name="Content Placeholder 2"/>
          <p:cNvSpPr>
            <a:spLocks noGrp="1"/>
          </p:cNvSpPr>
          <p:nvPr>
            <p:ph idx="1"/>
          </p:nvPr>
        </p:nvSpPr>
        <p:spPr/>
        <p:txBody>
          <a:bodyPr/>
          <a:lstStyle/>
          <a:p>
            <a:endParaRPr lang="en-US" dirty="0" smtClean="0"/>
          </a:p>
          <a:p>
            <a:r>
              <a:rPr lang="en-US" b="1" dirty="0"/>
              <a:t>DevOps</a:t>
            </a:r>
            <a:r>
              <a:rPr lang="en-US" dirty="0"/>
              <a:t> is a combination of cultural philosophies, practices, and tools that help organizations deliver applications and services at high velocity. </a:t>
            </a:r>
            <a:endParaRPr lang="en-US" dirty="0" smtClean="0"/>
          </a:p>
          <a:p>
            <a:r>
              <a:rPr lang="en-US" dirty="0"/>
              <a:t>Essentially, DevOps bridges the gap between </a:t>
            </a:r>
            <a:r>
              <a:rPr lang="en-US" b="1" dirty="0"/>
              <a:t>Development</a:t>
            </a:r>
            <a:r>
              <a:rPr lang="en-US" dirty="0"/>
              <a:t> (Dev) and </a:t>
            </a:r>
            <a:r>
              <a:rPr lang="en-US" b="1" dirty="0"/>
              <a:t>Operations</a:t>
            </a:r>
            <a:r>
              <a:rPr lang="en-US" dirty="0"/>
              <a:t> (Ops) to foster collaboration and deliver better results.</a:t>
            </a:r>
          </a:p>
        </p:txBody>
      </p:sp>
    </p:spTree>
    <p:extLst>
      <p:ext uri="{BB962C8B-B14F-4D97-AF65-F5344CB8AC3E}">
        <p14:creationId xmlns:p14="http://schemas.microsoft.com/office/powerpoint/2010/main" val="31504509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CD4705F-2C82-0476-F7DF-0AB108ADA0D3}"/>
              </a:ext>
            </a:extLst>
          </p:cNvPr>
          <p:cNvSpPr>
            <a:spLocks noGrp="1"/>
          </p:cNvSpPr>
          <p:nvPr>
            <p:ph type="title"/>
          </p:nvPr>
        </p:nvSpPr>
        <p:spPr/>
        <p:txBody>
          <a:bodyPr/>
          <a:lstStyle/>
          <a:p>
            <a:r>
              <a:rPr lang="en-US" b="1" dirty="0" smtClean="0">
                <a:latin typeface="Times New Roman"/>
                <a:cs typeface="Times New Roman"/>
              </a:rPr>
              <a:t>DevOps - Lifecycle</a:t>
            </a:r>
            <a:endParaRPr lang="en-US" b="1" dirty="0">
              <a:latin typeface="Times New Roman"/>
              <a:cs typeface="Times New Roman"/>
            </a:endParaRPr>
          </a:p>
        </p:txBody>
      </p:sp>
      <p:sp>
        <p:nvSpPr>
          <p:cNvPr id="3" name="Content Placeholder 2">
            <a:extLst>
              <a:ext uri="{FF2B5EF4-FFF2-40B4-BE49-F238E27FC236}">
                <a16:creationId xmlns="" xmlns:a16="http://schemas.microsoft.com/office/drawing/2014/main" id="{464289A3-211E-6530-B1C9-F4BEF80F77D1}"/>
              </a:ext>
            </a:extLst>
          </p:cNvPr>
          <p:cNvSpPr>
            <a:spLocks noGrp="1"/>
          </p:cNvSpPr>
          <p:nvPr>
            <p:ph idx="1"/>
          </p:nvPr>
        </p:nvSpPr>
        <p:spPr/>
        <p:txBody>
          <a:bodyPr vert="horz" lIns="91440" tIns="45720" rIns="91440" bIns="45720" rtlCol="0" anchor="t">
            <a:normAutofit fontScale="92500" lnSpcReduction="10000"/>
          </a:bodyPr>
          <a:lstStyle/>
          <a:p>
            <a:r>
              <a:rPr lang="en-US" b="1" dirty="0"/>
              <a:t>Plan:</a:t>
            </a:r>
            <a:r>
              <a:rPr lang="en-US" dirty="0"/>
              <a:t> Define requirements and goals using tools like Jira or Azure Boards.</a:t>
            </a:r>
          </a:p>
          <a:p>
            <a:pPr lvl="0"/>
            <a:r>
              <a:rPr lang="en-US" b="1" dirty="0"/>
              <a:t>Develop:</a:t>
            </a:r>
            <a:r>
              <a:rPr lang="en-US" dirty="0"/>
              <a:t> Write, build, and version control code using </a:t>
            </a:r>
            <a:r>
              <a:rPr lang="en-US" dirty="0" err="1"/>
              <a:t>Git</a:t>
            </a:r>
            <a:r>
              <a:rPr lang="en-US" dirty="0"/>
              <a:t> or other repositories.</a:t>
            </a:r>
          </a:p>
          <a:p>
            <a:pPr lvl="0"/>
            <a:r>
              <a:rPr lang="en-US" b="1" dirty="0"/>
              <a:t>Build &amp; Test:</a:t>
            </a:r>
            <a:r>
              <a:rPr lang="en-US" dirty="0"/>
              <a:t> Automate building and testing using tools like Jenkins, </a:t>
            </a:r>
            <a:r>
              <a:rPr lang="en-US" dirty="0" err="1"/>
              <a:t>CircleCI</a:t>
            </a:r>
            <a:r>
              <a:rPr lang="en-US" dirty="0"/>
              <a:t>, or </a:t>
            </a:r>
            <a:r>
              <a:rPr lang="en-US" dirty="0" err="1"/>
              <a:t>GitLab</a:t>
            </a:r>
            <a:r>
              <a:rPr lang="en-US" dirty="0"/>
              <a:t> CI.</a:t>
            </a:r>
          </a:p>
          <a:p>
            <a:pPr lvl="0"/>
            <a:r>
              <a:rPr lang="en-US" b="1" dirty="0"/>
              <a:t>Release:</a:t>
            </a:r>
            <a:r>
              <a:rPr lang="en-US" dirty="0"/>
              <a:t> Package and release applications using containerization tools like Docker.</a:t>
            </a:r>
          </a:p>
          <a:p>
            <a:pPr lvl="0"/>
            <a:r>
              <a:rPr lang="en-US" b="1" dirty="0"/>
              <a:t>Deploy:</a:t>
            </a:r>
            <a:r>
              <a:rPr lang="en-US" dirty="0"/>
              <a:t> Automate deployments with tools like </a:t>
            </a:r>
            <a:r>
              <a:rPr lang="en-US" dirty="0" smtClean="0"/>
              <a:t>Kubernetes.</a:t>
            </a:r>
            <a:endParaRPr lang="en-US" dirty="0"/>
          </a:p>
          <a:p>
            <a:pPr lvl="0"/>
            <a:r>
              <a:rPr lang="en-US" b="1" dirty="0"/>
              <a:t>Operate:</a:t>
            </a:r>
            <a:r>
              <a:rPr lang="en-US" dirty="0"/>
              <a:t> Manage application performance and availability.</a:t>
            </a:r>
          </a:p>
          <a:p>
            <a:pPr lvl="0"/>
            <a:r>
              <a:rPr lang="en-US" b="1" dirty="0"/>
              <a:t>Monitor:</a:t>
            </a:r>
            <a:r>
              <a:rPr lang="en-US" dirty="0"/>
              <a:t> Gather logs and metrics to continuously improve systems.</a:t>
            </a:r>
          </a:p>
          <a:p>
            <a:endParaRPr lang="en-US" dirty="0">
              <a:solidFill>
                <a:schemeClr val="dk1"/>
              </a:solidFill>
              <a:latin typeface="Times New Roman"/>
              <a:cs typeface="Times New Roman"/>
            </a:endParaRPr>
          </a:p>
        </p:txBody>
      </p:sp>
      <p:pic>
        <p:nvPicPr>
          <p:cNvPr id="5" name="Picture 4" descr="A black and white logo&#10;&#10;AI-generated content may be incorrect.">
            <a:extLst>
              <a:ext uri="{FF2B5EF4-FFF2-40B4-BE49-F238E27FC236}">
                <a16:creationId xmlns="" xmlns:a16="http://schemas.microsoft.com/office/drawing/2014/main" id="{09C1C184-83A7-A13D-F566-253AABCFFFF6}"/>
              </a:ext>
            </a:extLst>
          </p:cNvPr>
          <p:cNvPicPr>
            <a:picLocks noChangeAspect="1"/>
          </p:cNvPicPr>
          <p:nvPr/>
        </p:nvPicPr>
        <p:blipFill>
          <a:blip r:embed="rId2"/>
          <a:stretch>
            <a:fillRect/>
          </a:stretch>
        </p:blipFill>
        <p:spPr>
          <a:xfrm>
            <a:off x="10661671" y="6851"/>
            <a:ext cx="1369645" cy="664793"/>
          </a:xfrm>
          <a:prstGeom prst="rect">
            <a:avLst/>
          </a:prstGeom>
        </p:spPr>
      </p:pic>
    </p:spTree>
    <p:extLst>
      <p:ext uri="{BB962C8B-B14F-4D97-AF65-F5344CB8AC3E}">
        <p14:creationId xmlns:p14="http://schemas.microsoft.com/office/powerpoint/2010/main" val="2743287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r>
              <a:rPr lang="en-US" b="1" dirty="0"/>
              <a:t>Why is DevOps Important</a:t>
            </a:r>
            <a:r>
              <a:rPr lang="en-US" b="1" dirty="0" smtClean="0"/>
              <a:t>?</a:t>
            </a:r>
            <a:endParaRPr lang="en-US" dirty="0">
              <a:latin typeface="Times New Roman"/>
              <a:cs typeface="Times New Roman"/>
            </a:endParaRPr>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p:txBody>
          <a:bodyPr vert="horz" lIns="91440" tIns="45720" rIns="91440" bIns="45720" rtlCol="0" anchor="t">
            <a:normAutofit/>
          </a:bodyPr>
          <a:lstStyle/>
          <a:p>
            <a:pPr marL="0" indent="0">
              <a:buNone/>
            </a:pPr>
            <a:r>
              <a:rPr lang="en-US" dirty="0"/>
              <a:t>In today’s competitive world, businesses need to innovate rapidly to meet customer demands and stay ahead of the competition. DevOps facilitates this by enabling</a:t>
            </a:r>
            <a:r>
              <a:rPr lang="en-US" dirty="0" smtClean="0"/>
              <a:t>:</a:t>
            </a:r>
          </a:p>
          <a:p>
            <a:pPr marL="0" indent="0">
              <a:buNone/>
            </a:pPr>
            <a:endParaRPr lang="en-US" dirty="0"/>
          </a:p>
          <a:p>
            <a:pPr lvl="0"/>
            <a:r>
              <a:rPr lang="en-US" dirty="0"/>
              <a:t>Faster delivery of software features and updates.</a:t>
            </a:r>
          </a:p>
          <a:p>
            <a:pPr lvl="0"/>
            <a:r>
              <a:rPr lang="en-US" dirty="0"/>
              <a:t>Improved collaboration between teams.</a:t>
            </a:r>
          </a:p>
          <a:p>
            <a:r>
              <a:rPr lang="en-US" dirty="0"/>
              <a:t>Greater resilience and reliability in software systems.</a:t>
            </a:r>
            <a:endParaRPr lang="en-US" dirty="0">
              <a:solidFill>
                <a:srgbClr val="273239"/>
              </a:solidFill>
              <a:latin typeface="Times New Roman"/>
              <a:ea typeface="+mn-lt"/>
              <a:cs typeface="+mn-lt"/>
            </a:endParaRPr>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1428130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normAutofit fontScale="90000"/>
          </a:bodyPr>
          <a:lstStyle/>
          <a:p>
            <a:r>
              <a:rPr lang="en-US" dirty="0"/>
              <a:t>Continuous Integration (CI), Continuous Delivery (CD), and Continuous Deployment (CD)</a:t>
            </a:r>
            <a:endParaRPr lang="en-US" dirty="0">
              <a:latin typeface="Times New Roman"/>
              <a:cs typeface="Times New Roman"/>
            </a:endParaRPr>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p:txBody>
          <a:bodyPr vert="horz" lIns="91440" tIns="45720" rIns="91440" bIns="45720" rtlCol="0" anchor="t">
            <a:normAutofit fontScale="77500" lnSpcReduction="20000"/>
          </a:bodyPr>
          <a:lstStyle/>
          <a:p>
            <a:pPr marL="0" indent="0">
              <a:buNone/>
            </a:pPr>
            <a:r>
              <a:rPr lang="en-US" dirty="0"/>
              <a:t>In today’s competitive world, businesses need to innovate rapidly to meet customer demands and stay ahead of the competition. DevOps facilitates this by enabling</a:t>
            </a:r>
            <a:r>
              <a:rPr lang="en-US" dirty="0" smtClean="0"/>
              <a:t>:</a:t>
            </a:r>
          </a:p>
          <a:p>
            <a:r>
              <a:rPr lang="en-US" dirty="0"/>
              <a:t>Continuous Integration (CI), Continuous Delivery (CD), and Continuous Deployment (CD) are essential DevOps practices aimed at automating software development, testing, and release processes. They help development teams deliver high-quality software faster and more reliably by ensuring that code changes are continuously integrated, tested, and deployed with minimal human intervention.</a:t>
            </a:r>
          </a:p>
          <a:p>
            <a:r>
              <a:rPr lang="en-US" dirty="0"/>
              <a:t>These practices allow organizations to:</a:t>
            </a:r>
          </a:p>
          <a:p>
            <a:r>
              <a:rPr lang="en-US" dirty="0"/>
              <a:t>Accelerate software delivery</a:t>
            </a:r>
          </a:p>
          <a:p>
            <a:r>
              <a:rPr lang="en-US" dirty="0"/>
              <a:t>Improve code quality</a:t>
            </a:r>
          </a:p>
          <a:p>
            <a:r>
              <a:rPr lang="en-US" dirty="0"/>
              <a:t>Reduce deployment risks</a:t>
            </a:r>
          </a:p>
          <a:p>
            <a:r>
              <a:rPr lang="en-US" dirty="0"/>
              <a:t>Ensure seamless collaboration between development and operations </a:t>
            </a:r>
            <a:r>
              <a:rPr lang="en-US" dirty="0" smtClean="0"/>
              <a:t>teams</a:t>
            </a:r>
            <a:endParaRPr lang="en-US" dirty="0"/>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2350717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r>
              <a:rPr lang="en-US" dirty="0"/>
              <a:t>1. Continuous Integration (CI)</a:t>
            </a:r>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a:xfrm>
            <a:off x="838200" y="1433015"/>
            <a:ext cx="10515600" cy="4743948"/>
          </a:xfrm>
        </p:spPr>
        <p:txBody>
          <a:bodyPr vert="horz" lIns="91440" tIns="45720" rIns="91440" bIns="45720" rtlCol="0" anchor="t">
            <a:normAutofit fontScale="77500" lnSpcReduction="20000"/>
          </a:bodyPr>
          <a:lstStyle/>
          <a:p>
            <a:r>
              <a:rPr lang="en-US" dirty="0" smtClean="0"/>
              <a:t>Definition</a:t>
            </a:r>
            <a:r>
              <a:rPr lang="en-US" dirty="0"/>
              <a:t>:</a:t>
            </a:r>
          </a:p>
          <a:p>
            <a:r>
              <a:rPr lang="en-US" dirty="0"/>
              <a:t>Continuous Integration (CI) is the practice of frequently merging code changes from multiple developers into a shared repository. Each change is automatically tested to detect and fix issues early in the development cycle.</a:t>
            </a:r>
          </a:p>
          <a:p>
            <a:r>
              <a:rPr lang="en-US" dirty="0"/>
              <a:t>Key Features:</a:t>
            </a:r>
          </a:p>
          <a:p>
            <a:r>
              <a:rPr lang="en-US" dirty="0"/>
              <a:t>✅ Developers commit code changes multiple times a day</a:t>
            </a:r>
            <a:br>
              <a:rPr lang="en-US" dirty="0"/>
            </a:br>
            <a:r>
              <a:rPr lang="en-US" dirty="0"/>
              <a:t>✅ Automated build and unit tests verify each change</a:t>
            </a:r>
            <a:br>
              <a:rPr lang="en-US" dirty="0"/>
            </a:br>
            <a:r>
              <a:rPr lang="en-US" dirty="0"/>
              <a:t>✅ Identifies bugs and integration issues early</a:t>
            </a:r>
            <a:br>
              <a:rPr lang="en-US" dirty="0"/>
            </a:br>
            <a:r>
              <a:rPr lang="en-US" dirty="0"/>
              <a:t>✅ Reduces the time spent on debugging later stages</a:t>
            </a:r>
          </a:p>
          <a:p>
            <a:r>
              <a:rPr lang="en-US" dirty="0"/>
              <a:t>Example:</a:t>
            </a:r>
          </a:p>
          <a:p>
            <a:r>
              <a:rPr lang="en-US" dirty="0"/>
              <a:t>A developer commits new code to GitHub.</a:t>
            </a:r>
          </a:p>
          <a:p>
            <a:r>
              <a:rPr lang="en-US" dirty="0"/>
              <a:t>A CI tool (e.g., Jenkins, </a:t>
            </a:r>
            <a:r>
              <a:rPr lang="en-US" dirty="0" err="1"/>
              <a:t>GitLab</a:t>
            </a:r>
            <a:r>
              <a:rPr lang="en-US" dirty="0"/>
              <a:t> CI, or GitHub Actions) automatically triggers a build and test process.</a:t>
            </a:r>
          </a:p>
          <a:p>
            <a:r>
              <a:rPr lang="en-US" dirty="0"/>
              <a:t>If the test fails, the developer is notified to fix the issue immediately.</a:t>
            </a:r>
          </a:p>
          <a:p>
            <a:r>
              <a:rPr lang="en-US" dirty="0"/>
              <a:t>If the test passes, the code is integrated into the main branch.</a:t>
            </a:r>
          </a:p>
          <a:p>
            <a:endParaRPr lang="en-US" dirty="0">
              <a:solidFill>
                <a:srgbClr val="273239"/>
              </a:solidFill>
              <a:latin typeface="Times New Roman"/>
              <a:ea typeface="+mn-lt"/>
              <a:cs typeface="+mn-lt"/>
            </a:endParaRPr>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2106977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r>
              <a:rPr lang="en-US" dirty="0"/>
              <a:t>2. Continuous Delivery (CD)</a:t>
            </a:r>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a:xfrm>
            <a:off x="838200" y="1433015"/>
            <a:ext cx="10515600" cy="4743948"/>
          </a:xfrm>
        </p:spPr>
        <p:txBody>
          <a:bodyPr vert="horz" lIns="91440" tIns="45720" rIns="91440" bIns="45720" rtlCol="0" anchor="t">
            <a:normAutofit fontScale="70000" lnSpcReduction="20000"/>
          </a:bodyPr>
          <a:lstStyle/>
          <a:p>
            <a:r>
              <a:rPr lang="en-US" dirty="0" smtClean="0"/>
              <a:t>Definition</a:t>
            </a:r>
            <a:r>
              <a:rPr lang="en-US" dirty="0"/>
              <a:t>:</a:t>
            </a:r>
          </a:p>
          <a:p>
            <a:r>
              <a:rPr lang="en-US" dirty="0"/>
              <a:t>Continuous Delivery (CD) extends CI by ensuring that every code change is automatically tested and prepared for deployment to a staging environment or production.</a:t>
            </a:r>
          </a:p>
          <a:p>
            <a:r>
              <a:rPr lang="en-US" dirty="0"/>
              <a:t>Key Features:</a:t>
            </a:r>
          </a:p>
          <a:p>
            <a:r>
              <a:rPr lang="en-US" dirty="0"/>
              <a:t>✅ Builds upon CI by automating testing beyond unit tests</a:t>
            </a:r>
            <a:br>
              <a:rPr lang="en-US" dirty="0"/>
            </a:br>
            <a:r>
              <a:rPr lang="en-US" dirty="0"/>
              <a:t>✅ Includes integration, performance, and security testing</a:t>
            </a:r>
            <a:br>
              <a:rPr lang="en-US" dirty="0"/>
            </a:br>
            <a:r>
              <a:rPr lang="en-US" dirty="0"/>
              <a:t>✅ Code is always in a deployable state</a:t>
            </a:r>
            <a:br>
              <a:rPr lang="en-US" dirty="0"/>
            </a:br>
            <a:r>
              <a:rPr lang="en-US" dirty="0"/>
              <a:t>✅ Deployment to production is manual but can be triggered anytime</a:t>
            </a:r>
          </a:p>
          <a:p>
            <a:r>
              <a:rPr lang="en-US" dirty="0"/>
              <a:t>Example:</a:t>
            </a:r>
          </a:p>
          <a:p>
            <a:r>
              <a:rPr lang="en-US" dirty="0"/>
              <a:t>After CI passes, the code is automatically tested in a staging environment.</a:t>
            </a:r>
          </a:p>
          <a:p>
            <a:r>
              <a:rPr lang="en-US" dirty="0"/>
              <a:t>The team manually approves the release when ready.</a:t>
            </a:r>
          </a:p>
          <a:p>
            <a:r>
              <a:rPr lang="en-US" dirty="0"/>
              <a:t>The software can be deployed to production on demand.</a:t>
            </a:r>
          </a:p>
          <a:p>
            <a:r>
              <a:rPr lang="en-US" dirty="0"/>
              <a:t>💡 Use Case:</a:t>
            </a:r>
            <a:br>
              <a:rPr lang="en-US" dirty="0"/>
            </a:br>
            <a:r>
              <a:rPr lang="en-US" dirty="0"/>
              <a:t>An e-commerce website uses CD to automatically test and prepare new features, allowing teams to release updates whenever needed without disrupting user experience.</a:t>
            </a:r>
          </a:p>
          <a:p>
            <a:endParaRPr lang="en-US" dirty="0">
              <a:solidFill>
                <a:srgbClr val="273239"/>
              </a:solidFill>
              <a:latin typeface="Times New Roman"/>
              <a:ea typeface="+mn-lt"/>
              <a:cs typeface="+mn-lt"/>
            </a:endParaRPr>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177578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r>
              <a:rPr lang="en-US" dirty="0"/>
              <a:t>3. Continuous Deployment (CD)</a:t>
            </a:r>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a:xfrm>
            <a:off x="838200" y="1433015"/>
            <a:ext cx="10515600" cy="4743948"/>
          </a:xfrm>
        </p:spPr>
        <p:txBody>
          <a:bodyPr vert="horz" lIns="91440" tIns="45720" rIns="91440" bIns="45720" rtlCol="0" anchor="t">
            <a:normAutofit fontScale="70000" lnSpcReduction="20000"/>
          </a:bodyPr>
          <a:lstStyle/>
          <a:p>
            <a:r>
              <a:rPr lang="en-US" dirty="0" smtClean="0"/>
              <a:t>Definition</a:t>
            </a:r>
            <a:r>
              <a:rPr lang="en-US" dirty="0"/>
              <a:t>:</a:t>
            </a:r>
          </a:p>
          <a:p>
            <a:r>
              <a:rPr lang="en-US" dirty="0"/>
              <a:t>Continuous Deployment takes Continuous Delivery one step further by automatically deploying every successful code change to production without manual approval.</a:t>
            </a:r>
          </a:p>
          <a:p>
            <a:r>
              <a:rPr lang="en-US" dirty="0"/>
              <a:t>Key Features:</a:t>
            </a:r>
          </a:p>
          <a:p>
            <a:r>
              <a:rPr lang="en-US" dirty="0"/>
              <a:t>✅ Every code commit that passes automated testing is deployed to production</a:t>
            </a:r>
            <a:br>
              <a:rPr lang="en-US" dirty="0"/>
            </a:br>
            <a:r>
              <a:rPr lang="en-US" dirty="0"/>
              <a:t>✅ Eliminates the need for manual deployment processes</a:t>
            </a:r>
            <a:br>
              <a:rPr lang="en-US" dirty="0"/>
            </a:br>
            <a:r>
              <a:rPr lang="en-US" dirty="0"/>
              <a:t>✅ Ensures rapid software releases multiple times a day</a:t>
            </a:r>
            <a:br>
              <a:rPr lang="en-US" dirty="0"/>
            </a:br>
            <a:r>
              <a:rPr lang="en-US" dirty="0"/>
              <a:t>✅ Requires high confidence in automated testing</a:t>
            </a:r>
          </a:p>
          <a:p>
            <a:r>
              <a:rPr lang="en-US" dirty="0"/>
              <a:t>Example:</a:t>
            </a:r>
          </a:p>
          <a:p>
            <a:r>
              <a:rPr lang="en-US" dirty="0"/>
              <a:t>A developer commits a bug fix.</a:t>
            </a:r>
          </a:p>
          <a:p>
            <a:r>
              <a:rPr lang="en-US" dirty="0"/>
              <a:t>The CI/CD pipeline runs tests, builds, and deployment scripts.</a:t>
            </a:r>
          </a:p>
          <a:p>
            <a:r>
              <a:rPr lang="en-US" dirty="0"/>
              <a:t>If everything passes, the update is automatically deployed to production.</a:t>
            </a:r>
          </a:p>
          <a:p>
            <a:r>
              <a:rPr lang="en-US" dirty="0"/>
              <a:t>💡 Use Case:</a:t>
            </a:r>
            <a:br>
              <a:rPr lang="en-US" dirty="0"/>
            </a:br>
            <a:r>
              <a:rPr lang="en-US" dirty="0"/>
              <a:t>Companies like Netflix, Facebook, and Amazon use Continuous Deployment to release new features and fixes multiple times per day, ensuring that users always have access to the latest updates without service downtime.</a:t>
            </a:r>
          </a:p>
          <a:p>
            <a:endParaRPr lang="en-US" dirty="0">
              <a:solidFill>
                <a:srgbClr val="273239"/>
              </a:solidFill>
              <a:latin typeface="Times New Roman"/>
              <a:ea typeface="+mn-lt"/>
              <a:cs typeface="+mn-lt"/>
            </a:endParaRPr>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2274887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r>
              <a:rPr lang="en-US" dirty="0"/>
              <a:t>Key Differences Between CI, CD (Delivery), and CD (Deployment)</a:t>
            </a:r>
            <a:endParaRPr lang="en-US" dirty="0">
              <a:latin typeface="Times New Roman"/>
              <a:cs typeface="Times New Roman"/>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77844090"/>
              </p:ext>
            </p:extLst>
          </p:nvPr>
        </p:nvGraphicFramePr>
        <p:xfrm>
          <a:off x="838200" y="1883392"/>
          <a:ext cx="10515600" cy="4189861"/>
        </p:xfrm>
        <a:graphic>
          <a:graphicData uri="http://schemas.openxmlformats.org/drawingml/2006/table">
            <a:tbl>
              <a:tblPr/>
              <a:tblGrid>
                <a:gridCol w="2628900"/>
                <a:gridCol w="2628900"/>
                <a:gridCol w="2628900"/>
                <a:gridCol w="2628900"/>
              </a:tblGrid>
              <a:tr h="540627">
                <a:tc>
                  <a:txBody>
                    <a:bodyPr/>
                    <a:lstStyle/>
                    <a:p>
                      <a:r>
                        <a:rPr lang="en-US" b="1" dirty="0"/>
                        <a:t>Practice</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Purpose</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Key Benefit</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Deployment Type</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46098">
                <a:tc>
                  <a:txBody>
                    <a:bodyPr/>
                    <a:lstStyle/>
                    <a:p>
                      <a:r>
                        <a:rPr lang="en-US" b="1" dirty="0"/>
                        <a:t>Continuous Integration (CI)</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Merges and tests code frequently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Detects issues early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Not deployed automatically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51568">
                <a:tc>
                  <a:txBody>
                    <a:bodyPr/>
                    <a:lstStyle/>
                    <a:p>
                      <a:r>
                        <a:rPr lang="en-US" b="1" dirty="0"/>
                        <a:t>Continuous Delivery (CD)</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Ensures software is always ready for release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Deployable at any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Manual approval before deployment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51568">
                <a:tc>
                  <a:txBody>
                    <a:bodyPr/>
                    <a:lstStyle/>
                    <a:p>
                      <a:r>
                        <a:rPr lang="en-US" b="1"/>
                        <a:t>Continuous Deployment (CD)</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Deploys every successful change automatically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Fastest delivery to users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Fully automated deployment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1819511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r>
              <a:rPr lang="en-US" dirty="0"/>
              <a:t>Benefits of CI/CD in DevOps</a:t>
            </a:r>
            <a:endParaRPr lang="en-US" dirty="0">
              <a:latin typeface="Times New Roman"/>
              <a:cs typeface="Times New Roman"/>
            </a:endParaRPr>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a:xfrm>
            <a:off x="838200" y="1690687"/>
            <a:ext cx="10515600" cy="4486275"/>
          </a:xfrm>
        </p:spPr>
        <p:txBody>
          <a:bodyPr vert="horz" lIns="91440" tIns="45720" rIns="91440" bIns="45720" rtlCol="0" anchor="t">
            <a:normAutofit/>
          </a:bodyPr>
          <a:lstStyle/>
          <a:p>
            <a:pPr marL="0" indent="0">
              <a:buNone/>
            </a:pPr>
            <a:r>
              <a:rPr lang="en-US" dirty="0"/>
              <a:t>🚀 Faster Development &amp; Release Cycles – Automates testing and deployment, reducing time-to-market</a:t>
            </a:r>
            <a:br>
              <a:rPr lang="en-US" dirty="0"/>
            </a:br>
            <a:r>
              <a:rPr lang="en-US" dirty="0"/>
              <a:t>💡 Improved Code Quality – Early detection of bugs through automated testing</a:t>
            </a:r>
            <a:br>
              <a:rPr lang="en-US" dirty="0"/>
            </a:br>
            <a:r>
              <a:rPr lang="en-US" dirty="0"/>
              <a:t>🔄 Better Collaboration – Developers, testers, and operations teams work together seamlessly</a:t>
            </a:r>
            <a:br>
              <a:rPr lang="en-US" dirty="0"/>
            </a:br>
            <a:r>
              <a:rPr lang="en-US" dirty="0"/>
              <a:t>🛠 Reduced Deployment Risks – Frequent small updates reduce major failures</a:t>
            </a:r>
            <a:br>
              <a:rPr lang="en-US" dirty="0"/>
            </a:br>
            <a:r>
              <a:rPr lang="en-US" dirty="0"/>
              <a:t>📈 Higher Customer Satisfaction – Users get new features and fixes faster</a:t>
            </a:r>
            <a:endParaRPr lang="en-US" dirty="0">
              <a:solidFill>
                <a:srgbClr val="273239"/>
              </a:solidFill>
              <a:latin typeface="Times New Roman"/>
              <a:ea typeface="+mn-lt"/>
              <a:cs typeface="+mn-lt"/>
            </a:endParaRPr>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1479170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r>
              <a:rPr lang="en-US" dirty="0" smtClean="0"/>
              <a:t>Introduction to DevOps Tools</a:t>
            </a:r>
            <a:endParaRPr lang="en-US" dirty="0">
              <a:latin typeface="Times New Roman"/>
              <a:cs typeface="Times New Roman"/>
            </a:endParaRPr>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a:xfrm>
            <a:off x="838200" y="1690687"/>
            <a:ext cx="10515600" cy="4486275"/>
          </a:xfrm>
        </p:spPr>
        <p:txBody>
          <a:bodyPr vert="horz" lIns="91440" tIns="45720" rIns="91440" bIns="45720" rtlCol="0" anchor="t">
            <a:normAutofit fontScale="92500" lnSpcReduction="10000"/>
          </a:bodyPr>
          <a:lstStyle/>
          <a:p>
            <a:r>
              <a:rPr lang="en-US" b="1" dirty="0"/>
              <a:t>1. </a:t>
            </a:r>
            <a:r>
              <a:rPr lang="en-US" b="1" dirty="0" err="1"/>
              <a:t>Git</a:t>
            </a:r>
            <a:r>
              <a:rPr lang="en-US" b="1" dirty="0"/>
              <a:t> (Version Control)</a:t>
            </a:r>
          </a:p>
          <a:p>
            <a:r>
              <a:rPr lang="en-US" b="1" dirty="0"/>
              <a:t>🔹 Category:</a:t>
            </a:r>
            <a:r>
              <a:rPr lang="en-US" dirty="0"/>
              <a:t> Version Control System (VCS)</a:t>
            </a:r>
            <a:br>
              <a:rPr lang="en-US" dirty="0"/>
            </a:br>
            <a:r>
              <a:rPr lang="en-US" b="1" dirty="0"/>
              <a:t>🔹 Purpose:</a:t>
            </a:r>
            <a:r>
              <a:rPr lang="en-US" dirty="0"/>
              <a:t> Tracks source code changes and enables team collaboration.</a:t>
            </a:r>
            <a:br>
              <a:rPr lang="en-US" dirty="0"/>
            </a:br>
            <a:r>
              <a:rPr lang="en-US" b="1" dirty="0"/>
              <a:t>🔹 Key Features:</a:t>
            </a:r>
            <a:endParaRPr lang="en-US" dirty="0"/>
          </a:p>
          <a:p>
            <a:r>
              <a:rPr lang="en-US" b="1" dirty="0"/>
              <a:t>Distributed Version Control</a:t>
            </a:r>
            <a:r>
              <a:rPr lang="en-US" dirty="0"/>
              <a:t>: Every developer has a copy of the repository.</a:t>
            </a:r>
          </a:p>
          <a:p>
            <a:r>
              <a:rPr lang="en-US" b="1" dirty="0"/>
              <a:t>Branching &amp; Merging</a:t>
            </a:r>
            <a:r>
              <a:rPr lang="en-US" dirty="0"/>
              <a:t>: Work on multiple features simultaneously.</a:t>
            </a:r>
          </a:p>
          <a:p>
            <a:r>
              <a:rPr lang="en-US" b="1" dirty="0"/>
              <a:t>Integration with CI/CD Pipelines</a:t>
            </a:r>
            <a:r>
              <a:rPr lang="en-US" dirty="0"/>
              <a:t>: Works with Jenkins, GitHub Actions, </a:t>
            </a:r>
            <a:r>
              <a:rPr lang="en-US" dirty="0" err="1"/>
              <a:t>GitLab</a:t>
            </a:r>
            <a:r>
              <a:rPr lang="en-US" dirty="0"/>
              <a:t> CI/CD.</a:t>
            </a:r>
          </a:p>
          <a:p>
            <a:r>
              <a:rPr lang="en-US" b="1" dirty="0"/>
              <a:t>Platforms</a:t>
            </a:r>
            <a:r>
              <a:rPr lang="en-US" dirty="0"/>
              <a:t>: GitHub, </a:t>
            </a:r>
            <a:r>
              <a:rPr lang="en-US" dirty="0" err="1"/>
              <a:t>GitLab</a:t>
            </a:r>
            <a:r>
              <a:rPr lang="en-US" dirty="0"/>
              <a:t>, </a:t>
            </a:r>
            <a:r>
              <a:rPr lang="en-US" dirty="0" err="1"/>
              <a:t>Bitbucket</a:t>
            </a:r>
            <a:r>
              <a:rPr lang="en-US" dirty="0"/>
              <a:t>.</a:t>
            </a:r>
          </a:p>
          <a:p>
            <a:pPr marL="0" indent="0">
              <a:buNone/>
            </a:pPr>
            <a:endParaRPr lang="en-US" dirty="0">
              <a:solidFill>
                <a:srgbClr val="273239"/>
              </a:solidFill>
              <a:latin typeface="Times New Roman"/>
              <a:ea typeface="+mn-lt"/>
              <a:cs typeface="+mn-lt"/>
            </a:endParaRPr>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685671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r>
              <a:rPr lang="en-US" dirty="0" smtClean="0"/>
              <a:t>Introduction to DevOps Tools</a:t>
            </a:r>
            <a:endParaRPr lang="en-US" dirty="0">
              <a:latin typeface="Times New Roman"/>
              <a:cs typeface="Times New Roman"/>
            </a:endParaRPr>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a:xfrm>
            <a:off x="838200" y="1690687"/>
            <a:ext cx="10515600" cy="4486275"/>
          </a:xfrm>
        </p:spPr>
        <p:txBody>
          <a:bodyPr vert="horz" lIns="91440" tIns="45720" rIns="91440" bIns="45720" rtlCol="0" anchor="t">
            <a:normAutofit fontScale="92500" lnSpcReduction="10000"/>
          </a:bodyPr>
          <a:lstStyle/>
          <a:p>
            <a:r>
              <a:rPr lang="en-US" dirty="0"/>
              <a:t>A </a:t>
            </a:r>
            <a:r>
              <a:rPr lang="en-US" b="1" dirty="0"/>
              <a:t>build</a:t>
            </a:r>
            <a:r>
              <a:rPr lang="en-US" dirty="0"/>
              <a:t> is the process of </a:t>
            </a:r>
            <a:r>
              <a:rPr lang="en-US" b="1" dirty="0"/>
              <a:t>converting source code into a deployable software application</a:t>
            </a:r>
            <a:r>
              <a:rPr lang="en-US" dirty="0"/>
              <a:t>. This typically involves </a:t>
            </a:r>
            <a:r>
              <a:rPr lang="en-US" b="1" dirty="0"/>
              <a:t>compiling the code, linking dependencies, running tests, and packaging</a:t>
            </a:r>
            <a:r>
              <a:rPr lang="en-US" dirty="0"/>
              <a:t> the application into a format suitable for deployment</a:t>
            </a:r>
            <a:endParaRPr lang="en-US" b="1" dirty="0" smtClean="0"/>
          </a:p>
          <a:p>
            <a:r>
              <a:rPr lang="en-US" b="1" dirty="0" smtClean="0"/>
              <a:t>2</a:t>
            </a:r>
            <a:r>
              <a:rPr lang="en-US" b="1" dirty="0"/>
              <a:t>. Maven (Build Automation)</a:t>
            </a:r>
          </a:p>
          <a:p>
            <a:r>
              <a:rPr lang="en-US" b="1" dirty="0"/>
              <a:t>🔹 Category:</a:t>
            </a:r>
            <a:r>
              <a:rPr lang="en-US" dirty="0"/>
              <a:t> Build </a:t>
            </a:r>
            <a:r>
              <a:rPr lang="en-US" dirty="0" smtClean="0"/>
              <a:t>Tool</a:t>
            </a:r>
            <a:r>
              <a:rPr lang="en-US" dirty="0"/>
              <a:t/>
            </a:r>
            <a:br>
              <a:rPr lang="en-US" dirty="0"/>
            </a:br>
            <a:r>
              <a:rPr lang="en-US" b="1" dirty="0"/>
              <a:t>🔹 Purpose:</a:t>
            </a:r>
            <a:r>
              <a:rPr lang="en-US" dirty="0"/>
              <a:t> Automates the build process in Java-based projects.</a:t>
            </a:r>
            <a:br>
              <a:rPr lang="en-US" dirty="0"/>
            </a:br>
            <a:r>
              <a:rPr lang="en-US" b="1" dirty="0"/>
              <a:t>🔹 Key Features:</a:t>
            </a:r>
            <a:endParaRPr lang="en-US" dirty="0"/>
          </a:p>
          <a:p>
            <a:r>
              <a:rPr lang="en-US" b="1" dirty="0"/>
              <a:t>Dependency Management</a:t>
            </a:r>
            <a:r>
              <a:rPr lang="en-US" dirty="0"/>
              <a:t>: Fetches required libraries automatically.</a:t>
            </a:r>
          </a:p>
          <a:p>
            <a:r>
              <a:rPr lang="en-US" b="1" dirty="0"/>
              <a:t>Project Object Model (POM.xml)</a:t>
            </a:r>
            <a:r>
              <a:rPr lang="en-US" dirty="0"/>
              <a:t>: Configuration file for builds.</a:t>
            </a:r>
          </a:p>
          <a:p>
            <a:r>
              <a:rPr lang="en-US" b="1" dirty="0"/>
              <a:t>Integration with CI/CD</a:t>
            </a:r>
            <a:r>
              <a:rPr lang="en-US" dirty="0"/>
              <a:t>: Used in Jenkins pipelines</a:t>
            </a:r>
            <a:r>
              <a:rPr lang="en-US" dirty="0" smtClean="0"/>
              <a:t>.</a:t>
            </a:r>
          </a:p>
          <a:p>
            <a:endParaRPr lang="en-US" dirty="0"/>
          </a:p>
          <a:p>
            <a:pPr marL="0" indent="0">
              <a:buNone/>
            </a:pPr>
            <a:endParaRPr lang="en-US" dirty="0">
              <a:solidFill>
                <a:srgbClr val="273239"/>
              </a:solidFill>
              <a:latin typeface="Times New Roman"/>
              <a:ea typeface="+mn-lt"/>
              <a:cs typeface="+mn-lt"/>
            </a:endParaRPr>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2057407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r>
              <a:rPr lang="en-US" dirty="0" smtClean="0"/>
              <a:t>Introduction to DevOps Tools</a:t>
            </a:r>
            <a:endParaRPr lang="en-US" dirty="0">
              <a:latin typeface="Times New Roman"/>
              <a:cs typeface="Times New Roman"/>
            </a:endParaRPr>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a:xfrm>
            <a:off x="838200" y="1690687"/>
            <a:ext cx="10515600" cy="4486275"/>
          </a:xfrm>
        </p:spPr>
        <p:txBody>
          <a:bodyPr vert="horz" lIns="91440" tIns="45720" rIns="91440" bIns="45720" rtlCol="0" anchor="t">
            <a:normAutofit fontScale="85000" lnSpcReduction="20000"/>
          </a:bodyPr>
          <a:lstStyle/>
          <a:p>
            <a:r>
              <a:rPr lang="en-US" b="1" dirty="0"/>
              <a:t>Configuration Management (CM)</a:t>
            </a:r>
            <a:r>
              <a:rPr lang="en-US" dirty="0"/>
              <a:t> is the practice of systematically </a:t>
            </a:r>
            <a:r>
              <a:rPr lang="en-US" b="1" dirty="0"/>
              <a:t>managing, monitoring, and maintaining IT infrastructure</a:t>
            </a:r>
            <a:r>
              <a:rPr lang="en-US" dirty="0"/>
              <a:t> (servers, applications, networks, and software configurations) to ensure consistency, efficiency, and security.</a:t>
            </a:r>
            <a:endParaRPr lang="en-US" b="1" dirty="0" smtClean="0"/>
          </a:p>
          <a:p>
            <a:r>
              <a:rPr lang="en-US" b="1" dirty="0" smtClean="0"/>
              <a:t>3</a:t>
            </a:r>
            <a:r>
              <a:rPr lang="en-US" b="1" dirty="0"/>
              <a:t>. Puppet (Configuration Management)</a:t>
            </a:r>
          </a:p>
          <a:p>
            <a:r>
              <a:rPr lang="en-US" b="1" dirty="0"/>
              <a:t>🔹 Category:</a:t>
            </a:r>
            <a:r>
              <a:rPr lang="en-US" dirty="0"/>
              <a:t> Configuration Management</a:t>
            </a:r>
            <a:br>
              <a:rPr lang="en-US" dirty="0"/>
            </a:br>
            <a:r>
              <a:rPr lang="en-US" b="1" dirty="0"/>
              <a:t>🔹 Purpose:</a:t>
            </a:r>
            <a:r>
              <a:rPr lang="en-US" dirty="0"/>
              <a:t> Automates infrastructure provisioning and management.</a:t>
            </a:r>
            <a:br>
              <a:rPr lang="en-US" dirty="0"/>
            </a:br>
            <a:r>
              <a:rPr lang="en-US" b="1" dirty="0"/>
              <a:t>🔹 Key Features:</a:t>
            </a:r>
            <a:endParaRPr lang="en-US" dirty="0"/>
          </a:p>
          <a:p>
            <a:r>
              <a:rPr lang="en-US" b="1" dirty="0"/>
              <a:t>Infrastructure as Code (</a:t>
            </a:r>
            <a:r>
              <a:rPr lang="en-US" b="1" dirty="0" err="1"/>
              <a:t>IaC</a:t>
            </a:r>
            <a:r>
              <a:rPr lang="en-US" b="1" dirty="0"/>
              <a:t>)</a:t>
            </a:r>
            <a:r>
              <a:rPr lang="en-US" dirty="0"/>
              <a:t>: Defines system configuration as </a:t>
            </a:r>
            <a:r>
              <a:rPr lang="en-US" dirty="0" smtClean="0"/>
              <a:t>code. It is </a:t>
            </a:r>
            <a:r>
              <a:rPr lang="en-US" dirty="0"/>
              <a:t>the practice of managing and provisioning IT infrastructure using </a:t>
            </a:r>
            <a:r>
              <a:rPr lang="en-US" b="1" dirty="0"/>
              <a:t>machine-readable scripts and configuration files</a:t>
            </a:r>
            <a:r>
              <a:rPr lang="en-US" dirty="0"/>
              <a:t> instead of manual </a:t>
            </a:r>
            <a:r>
              <a:rPr lang="en-US" dirty="0" smtClean="0"/>
              <a:t>setup.</a:t>
            </a:r>
            <a:endParaRPr lang="en-US" dirty="0"/>
          </a:p>
          <a:p>
            <a:r>
              <a:rPr lang="en-US" b="1" dirty="0"/>
              <a:t>Agent-Based Model</a:t>
            </a:r>
            <a:r>
              <a:rPr lang="en-US" dirty="0"/>
              <a:t>: Puppet agents install configurations on servers.</a:t>
            </a:r>
          </a:p>
          <a:p>
            <a:r>
              <a:rPr lang="en-US" b="1" dirty="0"/>
              <a:t>Centralized Management</a:t>
            </a:r>
            <a:r>
              <a:rPr lang="en-US" dirty="0"/>
              <a:t>: Uses </a:t>
            </a:r>
            <a:r>
              <a:rPr lang="en-US" b="1" dirty="0"/>
              <a:t>Puppet Master</a:t>
            </a:r>
            <a:r>
              <a:rPr lang="en-US" dirty="0"/>
              <a:t> to control </a:t>
            </a:r>
            <a:r>
              <a:rPr lang="en-US" dirty="0" smtClean="0"/>
              <a:t>nodes.</a:t>
            </a:r>
            <a:endParaRPr lang="en-US" dirty="0"/>
          </a:p>
          <a:p>
            <a:pPr marL="0" indent="0">
              <a:buNone/>
            </a:pPr>
            <a:endParaRPr lang="en-US" dirty="0">
              <a:solidFill>
                <a:srgbClr val="273239"/>
              </a:solidFill>
              <a:latin typeface="Times New Roman"/>
              <a:ea typeface="+mn-lt"/>
              <a:cs typeface="+mn-lt"/>
            </a:endParaRPr>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227456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r>
              <a:rPr lang="en-US" dirty="0" smtClean="0"/>
              <a:t>Introduction to DevOps Tools</a:t>
            </a:r>
            <a:endParaRPr lang="en-US" dirty="0">
              <a:latin typeface="Times New Roman"/>
              <a:cs typeface="Times New Roman"/>
            </a:endParaRPr>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a:xfrm>
            <a:off x="838200" y="1690687"/>
            <a:ext cx="10515600" cy="4486275"/>
          </a:xfrm>
        </p:spPr>
        <p:txBody>
          <a:bodyPr vert="horz" lIns="91440" tIns="45720" rIns="91440" bIns="45720" rtlCol="0" anchor="t">
            <a:normAutofit fontScale="85000" lnSpcReduction="20000"/>
          </a:bodyPr>
          <a:lstStyle/>
          <a:p>
            <a:r>
              <a:rPr lang="en-US" b="1" dirty="0"/>
              <a:t>Containerization</a:t>
            </a:r>
            <a:r>
              <a:rPr lang="en-US" dirty="0"/>
              <a:t> is a lightweight </a:t>
            </a:r>
            <a:r>
              <a:rPr lang="en-US" b="1" dirty="0"/>
              <a:t>virtualization technique</a:t>
            </a:r>
            <a:r>
              <a:rPr lang="en-US" dirty="0"/>
              <a:t> that allows applications to run </a:t>
            </a:r>
            <a:r>
              <a:rPr lang="en-US" b="1" dirty="0"/>
              <a:t>in isolated environments</a:t>
            </a:r>
            <a:r>
              <a:rPr lang="en-US" dirty="0"/>
              <a:t> called </a:t>
            </a:r>
            <a:r>
              <a:rPr lang="en-US" b="1" dirty="0"/>
              <a:t>containers</a:t>
            </a:r>
            <a:r>
              <a:rPr lang="en-US" dirty="0"/>
              <a:t>, ensuring consistency across different computing environments. It packages the application along with all its dependencies, configurations, and libraries, making it portable and scalable.</a:t>
            </a:r>
            <a:endParaRPr lang="en-US" b="1" dirty="0" smtClean="0"/>
          </a:p>
          <a:p>
            <a:r>
              <a:rPr lang="en-US" b="1" dirty="0" smtClean="0"/>
              <a:t>4</a:t>
            </a:r>
            <a:r>
              <a:rPr lang="en-US" b="1" dirty="0"/>
              <a:t>. Docker (Containerization)</a:t>
            </a:r>
          </a:p>
          <a:p>
            <a:r>
              <a:rPr lang="en-US" b="1" dirty="0"/>
              <a:t>🔹 Category:</a:t>
            </a:r>
            <a:r>
              <a:rPr lang="en-US" dirty="0"/>
              <a:t> Containerization</a:t>
            </a:r>
            <a:br>
              <a:rPr lang="en-US" dirty="0"/>
            </a:br>
            <a:r>
              <a:rPr lang="en-US" b="1" dirty="0"/>
              <a:t>🔹 Purpose:</a:t>
            </a:r>
            <a:r>
              <a:rPr lang="en-US" dirty="0"/>
              <a:t> Packages applications and dependencies into portable containers.</a:t>
            </a:r>
            <a:br>
              <a:rPr lang="en-US" dirty="0"/>
            </a:br>
            <a:r>
              <a:rPr lang="en-US" b="1" dirty="0"/>
              <a:t>🔹 Key Features:</a:t>
            </a:r>
            <a:endParaRPr lang="en-US" dirty="0"/>
          </a:p>
          <a:p>
            <a:r>
              <a:rPr lang="en-US" b="1" dirty="0"/>
              <a:t>Lightweight and Fast</a:t>
            </a:r>
            <a:r>
              <a:rPr lang="en-US" dirty="0"/>
              <a:t>: Containers are faster than VMs.</a:t>
            </a:r>
          </a:p>
          <a:p>
            <a:r>
              <a:rPr lang="en-US" b="1" dirty="0"/>
              <a:t>Cross-Platform Compatibility</a:t>
            </a:r>
            <a:r>
              <a:rPr lang="en-US" dirty="0"/>
              <a:t>: Runs on any OS supporting Docker.</a:t>
            </a:r>
          </a:p>
          <a:p>
            <a:r>
              <a:rPr lang="en-US" b="1" dirty="0" err="1"/>
              <a:t>Microservices</a:t>
            </a:r>
            <a:r>
              <a:rPr lang="en-US" b="1" dirty="0"/>
              <a:t> Deployment</a:t>
            </a:r>
            <a:r>
              <a:rPr lang="en-US" dirty="0"/>
              <a:t>: Each service runs in a separate container.</a:t>
            </a:r>
          </a:p>
          <a:p>
            <a:pPr marL="0" indent="0">
              <a:buNone/>
            </a:pPr>
            <a:endParaRPr lang="en-US" dirty="0">
              <a:solidFill>
                <a:srgbClr val="273239"/>
              </a:solidFill>
              <a:latin typeface="Times New Roman"/>
              <a:ea typeface="+mn-lt"/>
              <a:cs typeface="+mn-lt"/>
            </a:endParaRPr>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1450182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r>
              <a:rPr lang="en-US" dirty="0" smtClean="0"/>
              <a:t>Introduction to DevOps Tools</a:t>
            </a:r>
            <a:endParaRPr lang="en-US" dirty="0">
              <a:latin typeface="Times New Roman"/>
              <a:cs typeface="Times New Roman"/>
            </a:endParaRPr>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a:xfrm>
            <a:off x="838200" y="1690687"/>
            <a:ext cx="10515600" cy="4486275"/>
          </a:xfrm>
        </p:spPr>
        <p:txBody>
          <a:bodyPr vert="horz" lIns="91440" tIns="45720" rIns="91440" bIns="45720" rtlCol="0" anchor="t">
            <a:normAutofit fontScale="92500" lnSpcReduction="20000"/>
          </a:bodyPr>
          <a:lstStyle/>
          <a:p>
            <a:r>
              <a:rPr lang="en-US" dirty="0" err="1"/>
              <a:t>Minikube</a:t>
            </a:r>
            <a:r>
              <a:rPr lang="en-US" dirty="0"/>
              <a:t> simplifies Kubernetes experimentation by providing a </a:t>
            </a:r>
            <a:r>
              <a:rPr lang="en-US" b="1" dirty="0"/>
              <a:t>minimal, fully functional Kubernetes environment</a:t>
            </a:r>
            <a:r>
              <a:rPr lang="en-US" dirty="0"/>
              <a:t> on a single machine. It allows developers </a:t>
            </a:r>
            <a:r>
              <a:rPr lang="en-US" dirty="0" smtClean="0"/>
              <a:t>to </a:t>
            </a:r>
            <a:r>
              <a:rPr lang="en-US" b="1" dirty="0" smtClean="0"/>
              <a:t>Run </a:t>
            </a:r>
            <a:r>
              <a:rPr lang="en-US" b="1" dirty="0"/>
              <a:t>Kubernetes Locally</a:t>
            </a:r>
            <a:r>
              <a:rPr lang="en-US" dirty="0"/>
              <a:t> – Creates a small Kubernetes cluster on a local system.</a:t>
            </a:r>
            <a:endParaRPr lang="en-US" b="1" dirty="0" smtClean="0"/>
          </a:p>
          <a:p>
            <a:r>
              <a:rPr lang="en-US" b="1" dirty="0" smtClean="0"/>
              <a:t>5</a:t>
            </a:r>
            <a:r>
              <a:rPr lang="en-US" b="1" dirty="0"/>
              <a:t>. </a:t>
            </a:r>
            <a:r>
              <a:rPr lang="en-US" b="1" dirty="0" err="1"/>
              <a:t>Minikube</a:t>
            </a:r>
            <a:r>
              <a:rPr lang="en-US" b="1" dirty="0"/>
              <a:t> (Kubernetes Testing)</a:t>
            </a:r>
          </a:p>
          <a:p>
            <a:r>
              <a:rPr lang="en-US" b="1" dirty="0"/>
              <a:t>🔹 Category:</a:t>
            </a:r>
            <a:r>
              <a:rPr lang="en-US" dirty="0"/>
              <a:t> Kubernetes (K8s)</a:t>
            </a:r>
            <a:br>
              <a:rPr lang="en-US" dirty="0"/>
            </a:br>
            <a:r>
              <a:rPr lang="en-US" b="1" dirty="0"/>
              <a:t>🔹 Purpose:</a:t>
            </a:r>
            <a:r>
              <a:rPr lang="en-US" dirty="0"/>
              <a:t> Runs a single-node Kubernetes cluster for local development/testing.</a:t>
            </a:r>
            <a:br>
              <a:rPr lang="en-US" dirty="0"/>
            </a:br>
            <a:r>
              <a:rPr lang="en-US" b="1" dirty="0"/>
              <a:t>🔹 Key Features:</a:t>
            </a:r>
            <a:endParaRPr lang="en-US" dirty="0"/>
          </a:p>
          <a:p>
            <a:r>
              <a:rPr lang="en-US" b="1" dirty="0"/>
              <a:t>Lightweight Kubernetes Cluster</a:t>
            </a:r>
            <a:r>
              <a:rPr lang="en-US" dirty="0"/>
              <a:t>: Good for testing Kubernetes workloads.</a:t>
            </a:r>
          </a:p>
          <a:p>
            <a:r>
              <a:rPr lang="en-US" b="1" dirty="0"/>
              <a:t>Supports Kubernetes APIs</a:t>
            </a:r>
            <a:r>
              <a:rPr lang="en-US" dirty="0"/>
              <a:t>: Works like a real K8s cluster.</a:t>
            </a:r>
          </a:p>
          <a:p>
            <a:r>
              <a:rPr lang="en-US" b="1" dirty="0"/>
              <a:t>Works with Docker &amp; Virtual Machines</a:t>
            </a:r>
            <a:r>
              <a:rPr lang="en-US" dirty="0" smtClean="0"/>
              <a:t>.</a:t>
            </a:r>
            <a:endParaRPr lang="en-US" dirty="0"/>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459806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r>
              <a:rPr lang="en-US" dirty="0" smtClean="0"/>
              <a:t>Introduction to DevOps Tools</a:t>
            </a:r>
            <a:endParaRPr lang="en-US" dirty="0">
              <a:latin typeface="Times New Roman"/>
              <a:cs typeface="Times New Roman"/>
            </a:endParaRPr>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a:xfrm>
            <a:off x="838200" y="1690687"/>
            <a:ext cx="10515600" cy="4486275"/>
          </a:xfrm>
        </p:spPr>
        <p:txBody>
          <a:bodyPr vert="horz" lIns="91440" tIns="45720" rIns="91440" bIns="45720" rtlCol="0" anchor="t">
            <a:normAutofit/>
          </a:bodyPr>
          <a:lstStyle/>
          <a:p>
            <a:r>
              <a:rPr lang="en-US" b="1" dirty="0"/>
              <a:t>6. </a:t>
            </a:r>
            <a:r>
              <a:rPr lang="en-US" b="1" dirty="0"/>
              <a:t>Jenkins (CI/CD Automation</a:t>
            </a:r>
            <a:r>
              <a:rPr lang="en-US" b="1" dirty="0" smtClean="0"/>
              <a:t>)</a:t>
            </a:r>
          </a:p>
          <a:p>
            <a:r>
              <a:rPr lang="en-US" dirty="0" smtClean="0"/>
              <a:t>🔹</a:t>
            </a:r>
            <a:r>
              <a:rPr lang="en-US" dirty="0"/>
              <a:t> </a:t>
            </a:r>
            <a:r>
              <a:rPr lang="en-US" b="1" dirty="0" smtClean="0"/>
              <a:t>Category</a:t>
            </a:r>
            <a:r>
              <a:rPr lang="en-US" dirty="0"/>
              <a:t>: Continuous Integration / Continuous Deployment (CI/CD</a:t>
            </a:r>
            <a:r>
              <a:rPr lang="en-US" dirty="0" smtClean="0"/>
              <a:t>)</a:t>
            </a:r>
          </a:p>
          <a:p>
            <a:r>
              <a:rPr lang="en-US" dirty="0" smtClean="0"/>
              <a:t>🔹 </a:t>
            </a:r>
            <a:r>
              <a:rPr lang="en-US" b="1" dirty="0"/>
              <a:t>Purpose</a:t>
            </a:r>
            <a:r>
              <a:rPr lang="en-US" dirty="0"/>
              <a:t>: Automates software builds, testing, and deployments</a:t>
            </a:r>
            <a:r>
              <a:rPr lang="en-US" dirty="0" smtClean="0"/>
              <a:t>.</a:t>
            </a:r>
          </a:p>
          <a:p>
            <a:r>
              <a:rPr lang="en-US" dirty="0" smtClean="0"/>
              <a:t>🔹 </a:t>
            </a:r>
            <a:r>
              <a:rPr lang="en-US" dirty="0"/>
              <a:t>Key Features</a:t>
            </a:r>
            <a:r>
              <a:rPr lang="en-US" dirty="0" smtClean="0"/>
              <a:t>:</a:t>
            </a:r>
          </a:p>
          <a:p>
            <a:r>
              <a:rPr lang="en-US" b="1" dirty="0" smtClean="0"/>
              <a:t>Pipeline </a:t>
            </a:r>
            <a:r>
              <a:rPr lang="en-US" b="1" dirty="0"/>
              <a:t>as Code</a:t>
            </a:r>
            <a:r>
              <a:rPr lang="en-US" dirty="0"/>
              <a:t>: Defines CI/CD workflow using </a:t>
            </a:r>
            <a:r>
              <a:rPr lang="en-US" dirty="0" err="1"/>
              <a:t>Jenkinsfile</a:t>
            </a:r>
            <a:r>
              <a:rPr lang="en-US" dirty="0" smtClean="0"/>
              <a:t>.</a:t>
            </a:r>
          </a:p>
          <a:p>
            <a:r>
              <a:rPr lang="en-US" b="1" dirty="0" smtClean="0"/>
              <a:t>Integration</a:t>
            </a:r>
            <a:r>
              <a:rPr lang="en-US" dirty="0" smtClean="0"/>
              <a:t> </a:t>
            </a:r>
            <a:r>
              <a:rPr lang="en-US" dirty="0"/>
              <a:t>with </a:t>
            </a:r>
            <a:r>
              <a:rPr lang="en-US" dirty="0" err="1"/>
              <a:t>Git</a:t>
            </a:r>
            <a:r>
              <a:rPr lang="en-US" dirty="0"/>
              <a:t>, Maven, Docker, </a:t>
            </a:r>
            <a:r>
              <a:rPr lang="en-US" dirty="0" smtClean="0"/>
              <a:t>Kubernetes.</a:t>
            </a:r>
          </a:p>
          <a:p>
            <a:r>
              <a:rPr lang="en-US" b="1" dirty="0"/>
              <a:t>J</a:t>
            </a:r>
            <a:r>
              <a:rPr lang="en-US" b="1" dirty="0" smtClean="0"/>
              <a:t>enkins </a:t>
            </a:r>
            <a:r>
              <a:rPr lang="en-US" b="1" dirty="0"/>
              <a:t>Plugins</a:t>
            </a:r>
            <a:r>
              <a:rPr lang="en-US" dirty="0"/>
              <a:t>: Supports thousands of integrations.</a:t>
            </a:r>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2340863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r>
              <a:rPr lang="en-US" dirty="0" smtClean="0"/>
              <a:t>Introduction to DevOps Tools</a:t>
            </a:r>
            <a:endParaRPr lang="en-US" dirty="0">
              <a:latin typeface="Times New Roman"/>
              <a:cs typeface="Times New Roman"/>
            </a:endParaRPr>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a:xfrm>
            <a:off x="838200" y="1690687"/>
            <a:ext cx="10515600" cy="4486275"/>
          </a:xfrm>
        </p:spPr>
        <p:txBody>
          <a:bodyPr vert="horz" lIns="91440" tIns="45720" rIns="91440" bIns="45720" rtlCol="0" anchor="t">
            <a:normAutofit/>
          </a:bodyPr>
          <a:lstStyle/>
          <a:p>
            <a:r>
              <a:rPr lang="en-US" b="1" dirty="0"/>
              <a:t>7. JUnit (Automated Testing)</a:t>
            </a:r>
          </a:p>
          <a:p>
            <a:r>
              <a:rPr lang="en-US" b="1" dirty="0"/>
              <a:t>🔹 Category:</a:t>
            </a:r>
            <a:r>
              <a:rPr lang="en-US" dirty="0"/>
              <a:t> Unit Testing Framework</a:t>
            </a:r>
            <a:br>
              <a:rPr lang="en-US" dirty="0"/>
            </a:br>
            <a:r>
              <a:rPr lang="en-US" b="1" dirty="0"/>
              <a:t>🔹 Purpose:</a:t>
            </a:r>
            <a:r>
              <a:rPr lang="en-US" dirty="0"/>
              <a:t> Runs automated tests for Java applications.</a:t>
            </a:r>
            <a:br>
              <a:rPr lang="en-US" dirty="0"/>
            </a:br>
            <a:r>
              <a:rPr lang="en-US" b="1" dirty="0"/>
              <a:t>🔹 Key Features:</a:t>
            </a:r>
            <a:endParaRPr lang="en-US" dirty="0"/>
          </a:p>
          <a:p>
            <a:r>
              <a:rPr lang="en-US" b="1" dirty="0"/>
              <a:t>Test-Driven Development (TDD)</a:t>
            </a:r>
            <a:r>
              <a:rPr lang="en-US" dirty="0"/>
              <a:t>.</a:t>
            </a:r>
          </a:p>
          <a:p>
            <a:r>
              <a:rPr lang="en-US" b="1" dirty="0"/>
              <a:t>Assertions &amp; Annotations for Testing</a:t>
            </a:r>
            <a:r>
              <a:rPr lang="en-US" dirty="0"/>
              <a:t>.</a:t>
            </a:r>
          </a:p>
          <a:p>
            <a:r>
              <a:rPr lang="en-US" b="1" dirty="0"/>
              <a:t>Integrates with Maven, Jenkins, and CI/CD Pipelines</a:t>
            </a:r>
            <a:r>
              <a:rPr lang="en-US" dirty="0" smtClean="0"/>
              <a:t>.</a:t>
            </a:r>
            <a:endParaRPr lang="en-US" dirty="0"/>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10629329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r>
              <a:rPr lang="en-US" dirty="0" smtClean="0"/>
              <a:t>Introduction to DevOps Tools</a:t>
            </a:r>
            <a:endParaRPr lang="en-US" dirty="0">
              <a:latin typeface="Times New Roman"/>
              <a:cs typeface="Times New Roman"/>
            </a:endParaRPr>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a:xfrm>
            <a:off x="838200" y="1690687"/>
            <a:ext cx="10515600" cy="4486275"/>
          </a:xfrm>
        </p:spPr>
        <p:txBody>
          <a:bodyPr vert="horz" lIns="91440" tIns="45720" rIns="91440" bIns="45720" rtlCol="0" anchor="t">
            <a:normAutofit/>
          </a:bodyPr>
          <a:lstStyle/>
          <a:p>
            <a:r>
              <a:rPr lang="en-US" b="1" dirty="0"/>
              <a:t>8. Nagios (Monitoring &amp; Alerting)</a:t>
            </a:r>
          </a:p>
          <a:p>
            <a:r>
              <a:rPr lang="en-US" b="1" dirty="0"/>
              <a:t>🔹 Category:</a:t>
            </a:r>
            <a:r>
              <a:rPr lang="en-US" dirty="0"/>
              <a:t> Infrastructure Monitoring</a:t>
            </a:r>
            <a:br>
              <a:rPr lang="en-US" dirty="0"/>
            </a:br>
            <a:r>
              <a:rPr lang="en-US" b="1" dirty="0"/>
              <a:t>🔹 Purpose:</a:t>
            </a:r>
            <a:r>
              <a:rPr lang="en-US" dirty="0"/>
              <a:t> Monitors server health, networks, and applications.</a:t>
            </a:r>
            <a:br>
              <a:rPr lang="en-US" dirty="0"/>
            </a:br>
            <a:r>
              <a:rPr lang="en-US" b="1" dirty="0"/>
              <a:t>🔹 Key Features:</a:t>
            </a:r>
            <a:endParaRPr lang="en-US" dirty="0"/>
          </a:p>
          <a:p>
            <a:r>
              <a:rPr lang="en-US" b="1" dirty="0"/>
              <a:t>Log Monitoring &amp; Alerts</a:t>
            </a:r>
            <a:r>
              <a:rPr lang="en-US" dirty="0"/>
              <a:t>: Detects failures in real-time.</a:t>
            </a:r>
          </a:p>
          <a:p>
            <a:r>
              <a:rPr lang="en-US" b="1" dirty="0"/>
              <a:t>Threshold-Based Notifications</a:t>
            </a:r>
            <a:r>
              <a:rPr lang="en-US" dirty="0"/>
              <a:t>: Sends email or SMS alerts.</a:t>
            </a:r>
          </a:p>
          <a:p>
            <a:r>
              <a:rPr lang="en-US" b="1" dirty="0"/>
              <a:t>Plugins for Cloud &amp; On-</a:t>
            </a:r>
            <a:r>
              <a:rPr lang="en-US" b="1" dirty="0" err="1"/>
              <a:t>Prem</a:t>
            </a:r>
            <a:r>
              <a:rPr lang="en-US" b="1" dirty="0"/>
              <a:t> Monitoring</a:t>
            </a:r>
            <a:r>
              <a:rPr lang="en-US" dirty="0" smtClean="0"/>
              <a:t>.</a:t>
            </a:r>
            <a:endParaRPr lang="en-US" dirty="0"/>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41519439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r>
              <a:rPr lang="en-US" dirty="0" smtClean="0"/>
              <a:t>Introduction to DevOps Tools</a:t>
            </a:r>
            <a:endParaRPr lang="en-US" dirty="0">
              <a:latin typeface="Times New Roman"/>
              <a:cs typeface="Times New Roman"/>
            </a:endParaRPr>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a:xfrm>
            <a:off x="838200" y="1690687"/>
            <a:ext cx="10515600" cy="4486275"/>
          </a:xfrm>
        </p:spPr>
        <p:txBody>
          <a:bodyPr vert="horz" lIns="91440" tIns="45720" rIns="91440" bIns="45720" rtlCol="0" anchor="t">
            <a:normAutofit/>
          </a:bodyPr>
          <a:lstStyle/>
          <a:p>
            <a:r>
              <a:rPr lang="en-US" b="1" dirty="0"/>
              <a:t>9. Graphite (Performance Monitoring)</a:t>
            </a:r>
          </a:p>
          <a:p>
            <a:r>
              <a:rPr lang="en-US" b="1" dirty="0"/>
              <a:t>🔹 Category:</a:t>
            </a:r>
            <a:r>
              <a:rPr lang="en-US" dirty="0"/>
              <a:t> Time-Series Database &amp; Monitoring</a:t>
            </a:r>
            <a:br>
              <a:rPr lang="en-US" dirty="0"/>
            </a:br>
            <a:r>
              <a:rPr lang="en-US" b="1" dirty="0"/>
              <a:t>🔹 Purpose:</a:t>
            </a:r>
            <a:r>
              <a:rPr lang="en-US" dirty="0"/>
              <a:t> Collects, stores, and visualizes time-series </a:t>
            </a:r>
            <a:r>
              <a:rPr lang="en-US" dirty="0" smtClean="0"/>
              <a:t>data (</a:t>
            </a:r>
            <a:r>
              <a:rPr lang="en-US" b="1" dirty="0"/>
              <a:t>DevOps Monitoring</a:t>
            </a:r>
            <a:r>
              <a:rPr lang="en-US" dirty="0"/>
              <a:t> – Server uptime, system logs, API request </a:t>
            </a:r>
            <a:r>
              <a:rPr lang="en-US" dirty="0" smtClean="0"/>
              <a:t>rates).</a:t>
            </a:r>
            <a:r>
              <a:rPr lang="en-US" dirty="0"/>
              <a:t/>
            </a:r>
            <a:br>
              <a:rPr lang="en-US" dirty="0"/>
            </a:br>
            <a:r>
              <a:rPr lang="en-US" b="1" dirty="0"/>
              <a:t>🔹 Key Features:</a:t>
            </a:r>
            <a:endParaRPr lang="en-US" dirty="0"/>
          </a:p>
          <a:p>
            <a:r>
              <a:rPr lang="en-US" b="1" dirty="0"/>
              <a:t>Scalable Monitoring for Large Systems</a:t>
            </a:r>
            <a:r>
              <a:rPr lang="en-US" dirty="0"/>
              <a:t>.</a:t>
            </a:r>
          </a:p>
          <a:p>
            <a:r>
              <a:rPr lang="en-US" b="1" dirty="0"/>
              <a:t>Data Retention &amp; Querying</a:t>
            </a:r>
            <a:r>
              <a:rPr lang="en-US" dirty="0"/>
              <a:t>.</a:t>
            </a:r>
          </a:p>
          <a:p>
            <a:r>
              <a:rPr lang="en-US" b="1" dirty="0"/>
              <a:t>Works with </a:t>
            </a:r>
            <a:r>
              <a:rPr lang="en-US" b="1" dirty="0" err="1"/>
              <a:t>Grafana</a:t>
            </a:r>
            <a:r>
              <a:rPr lang="en-US" b="1" dirty="0"/>
              <a:t> for Visualization</a:t>
            </a:r>
            <a:r>
              <a:rPr lang="en-US" dirty="0" smtClean="0"/>
              <a:t>.</a:t>
            </a:r>
            <a:endParaRPr lang="en-US" dirty="0"/>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15217784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r>
              <a:rPr lang="en-US" dirty="0" smtClean="0"/>
              <a:t>Introduction to DevOps Tools</a:t>
            </a:r>
            <a:endParaRPr lang="en-US" dirty="0">
              <a:latin typeface="Times New Roman"/>
              <a:cs typeface="Times New Roman"/>
            </a:endParaRPr>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a:xfrm>
            <a:off x="838200" y="1690687"/>
            <a:ext cx="10515600" cy="4486275"/>
          </a:xfrm>
        </p:spPr>
        <p:txBody>
          <a:bodyPr vert="horz" lIns="91440" tIns="45720" rIns="91440" bIns="45720" rtlCol="0" anchor="t">
            <a:normAutofit/>
          </a:bodyPr>
          <a:lstStyle/>
          <a:p>
            <a:r>
              <a:rPr lang="en-US" b="1" dirty="0"/>
              <a:t>10. </a:t>
            </a:r>
            <a:r>
              <a:rPr lang="en-US" b="1" dirty="0" err="1"/>
              <a:t>Grafana</a:t>
            </a:r>
            <a:r>
              <a:rPr lang="en-US" b="1" dirty="0"/>
              <a:t> (Data Visualization)</a:t>
            </a:r>
          </a:p>
          <a:p>
            <a:r>
              <a:rPr lang="en-US" b="1" dirty="0"/>
              <a:t>🔹 Category:</a:t>
            </a:r>
            <a:r>
              <a:rPr lang="en-US" dirty="0"/>
              <a:t> Monitoring &amp; Visualization</a:t>
            </a:r>
            <a:br>
              <a:rPr lang="en-US" dirty="0"/>
            </a:br>
            <a:r>
              <a:rPr lang="en-US" b="1" dirty="0"/>
              <a:t>🔹 Purpose:</a:t>
            </a:r>
            <a:r>
              <a:rPr lang="en-US" dirty="0"/>
              <a:t> Visualizes system performance metrics in dashboards.</a:t>
            </a:r>
            <a:br>
              <a:rPr lang="en-US" dirty="0"/>
            </a:br>
            <a:r>
              <a:rPr lang="en-US" b="1" dirty="0"/>
              <a:t>🔹 Key Features:</a:t>
            </a:r>
            <a:endParaRPr lang="en-US" dirty="0"/>
          </a:p>
          <a:p>
            <a:r>
              <a:rPr lang="en-US" b="1" dirty="0"/>
              <a:t>Real-Time Monitoring</a:t>
            </a:r>
            <a:r>
              <a:rPr lang="en-US" dirty="0"/>
              <a:t>: Graphs and alerts based on collected data.</a:t>
            </a:r>
          </a:p>
          <a:p>
            <a:r>
              <a:rPr lang="en-US" b="1" dirty="0"/>
              <a:t>Integrates with Prometheus, Nagios, Graphite, </a:t>
            </a:r>
            <a:r>
              <a:rPr lang="en-US" b="1" dirty="0" err="1"/>
              <a:t>Elasticsearch</a:t>
            </a:r>
            <a:r>
              <a:rPr lang="en-US" dirty="0"/>
              <a:t>.</a:t>
            </a:r>
          </a:p>
          <a:p>
            <a:r>
              <a:rPr lang="en-US" b="1" dirty="0"/>
              <a:t>Highly Customizable Dashboards</a:t>
            </a:r>
            <a:r>
              <a:rPr lang="en-US" dirty="0"/>
              <a:t>.</a:t>
            </a:r>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21260103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r>
              <a:rPr lang="en-US" dirty="0" smtClean="0"/>
              <a:t>Version Control</a:t>
            </a:r>
            <a:endParaRPr lang="en-US" dirty="0">
              <a:latin typeface="Times New Roman"/>
              <a:cs typeface="Times New Roman"/>
            </a:endParaRPr>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a:xfrm>
            <a:off x="838200" y="1690687"/>
            <a:ext cx="10515600" cy="4486275"/>
          </a:xfrm>
        </p:spPr>
        <p:txBody>
          <a:bodyPr vert="horz" lIns="91440" tIns="45720" rIns="91440" bIns="45720" rtlCol="0" anchor="t">
            <a:normAutofit fontScale="92500" lnSpcReduction="10000"/>
          </a:bodyPr>
          <a:lstStyle/>
          <a:p>
            <a:r>
              <a:rPr lang="en-IN" dirty="0"/>
              <a:t>Version control is a system that tracks changes to files, allowing developers to collaborate efficiently, revert to previous versions, and manage different versions of their projects. </a:t>
            </a:r>
            <a:endParaRPr lang="en-IN" dirty="0" smtClean="0"/>
          </a:p>
          <a:p>
            <a:r>
              <a:rPr lang="en-IN" dirty="0" smtClean="0"/>
              <a:t>It </a:t>
            </a:r>
            <a:r>
              <a:rPr lang="en-IN" dirty="0"/>
              <a:t>plays a critical role in </a:t>
            </a:r>
            <a:r>
              <a:rPr lang="en-IN" b="1" dirty="0"/>
              <a:t>DevOps</a:t>
            </a:r>
            <a:r>
              <a:rPr lang="en-IN" dirty="0"/>
              <a:t>, ensuring smooth collaboration and integration between development and operations teams.</a:t>
            </a:r>
            <a:endParaRPr lang="en-US" dirty="0"/>
          </a:p>
          <a:p>
            <a:r>
              <a:rPr lang="en-IN" dirty="0"/>
              <a:t>There are two main types of version control systems:</a:t>
            </a:r>
            <a:endParaRPr lang="en-US" dirty="0"/>
          </a:p>
          <a:p>
            <a:pPr lvl="0"/>
            <a:r>
              <a:rPr lang="en-IN" b="1" dirty="0"/>
              <a:t>Centralized Version Control System (CVCS)</a:t>
            </a:r>
            <a:r>
              <a:rPr lang="en-IN" dirty="0"/>
              <a:t> – A single server stores the code, and developers fetch the latest changes. Example: </a:t>
            </a:r>
            <a:r>
              <a:rPr lang="en-IN" b="1" dirty="0"/>
              <a:t>SVN, Perforce</a:t>
            </a:r>
            <a:r>
              <a:rPr lang="en-IN" dirty="0"/>
              <a:t>.</a:t>
            </a:r>
            <a:endParaRPr lang="en-US" dirty="0"/>
          </a:p>
          <a:p>
            <a:pPr lvl="0"/>
            <a:r>
              <a:rPr lang="en-IN" b="1" dirty="0"/>
              <a:t>Distributed Version Control System (DVCS)</a:t>
            </a:r>
            <a:r>
              <a:rPr lang="en-IN" dirty="0"/>
              <a:t> – Every developer has a copy of the repository, allowing them to work offline and sync changes later. Example: </a:t>
            </a:r>
            <a:r>
              <a:rPr lang="en-IN" b="1" dirty="0"/>
              <a:t>Git, Mercurial</a:t>
            </a:r>
            <a:r>
              <a:rPr lang="en-IN" dirty="0"/>
              <a:t>.</a:t>
            </a:r>
            <a:endParaRPr lang="en-US" dirty="0"/>
          </a:p>
          <a:p>
            <a:endParaRPr lang="en-US" dirty="0"/>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21675772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r>
              <a:rPr lang="en-US" dirty="0" smtClean="0"/>
              <a:t>GIT for Version Control</a:t>
            </a:r>
            <a:endParaRPr lang="en-US" dirty="0">
              <a:latin typeface="Times New Roman"/>
              <a:cs typeface="Times New Roman"/>
            </a:endParaRPr>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a:xfrm>
            <a:off x="838200" y="1690687"/>
            <a:ext cx="10515600" cy="4486275"/>
          </a:xfrm>
        </p:spPr>
        <p:txBody>
          <a:bodyPr vert="horz" lIns="91440" tIns="45720" rIns="91440" bIns="45720" rtlCol="0" anchor="t">
            <a:normAutofit fontScale="92500" lnSpcReduction="20000"/>
          </a:bodyPr>
          <a:lstStyle/>
          <a:p>
            <a:r>
              <a:rPr lang="en-US" b="1" dirty="0" err="1"/>
              <a:t>Git</a:t>
            </a:r>
            <a:r>
              <a:rPr lang="en-US" dirty="0"/>
              <a:t> is a </a:t>
            </a:r>
            <a:r>
              <a:rPr lang="en-US" b="1" dirty="0"/>
              <a:t>distributed version control system (DVCS)</a:t>
            </a:r>
            <a:r>
              <a:rPr lang="en-US" dirty="0"/>
              <a:t> that allows developers to track changes in code, collaborate efficiently, and manage software development projects. </a:t>
            </a:r>
            <a:endParaRPr lang="en-US" dirty="0" smtClean="0"/>
          </a:p>
          <a:p>
            <a:r>
              <a:rPr lang="en-US" dirty="0" smtClean="0"/>
              <a:t>Created </a:t>
            </a:r>
            <a:r>
              <a:rPr lang="en-US" dirty="0"/>
              <a:t>by </a:t>
            </a:r>
            <a:r>
              <a:rPr lang="en-US" b="1" dirty="0"/>
              <a:t>Linus Torvalds</a:t>
            </a:r>
            <a:r>
              <a:rPr lang="en-US" dirty="0"/>
              <a:t> in 2005, </a:t>
            </a:r>
            <a:r>
              <a:rPr lang="en-US" dirty="0" err="1"/>
              <a:t>Git</a:t>
            </a:r>
            <a:r>
              <a:rPr lang="en-US" dirty="0"/>
              <a:t> is widely used in DevOps, software engineering, and open-source projects</a:t>
            </a:r>
            <a:r>
              <a:rPr lang="en-US" dirty="0" smtClean="0"/>
              <a:t>.</a:t>
            </a:r>
          </a:p>
          <a:p>
            <a:r>
              <a:rPr lang="en-US" b="1" dirty="0"/>
              <a:t>🔹 Why Use </a:t>
            </a:r>
            <a:r>
              <a:rPr lang="en-US" b="1" dirty="0" err="1"/>
              <a:t>Git</a:t>
            </a:r>
            <a:r>
              <a:rPr lang="en-US" b="1" dirty="0"/>
              <a:t>?</a:t>
            </a:r>
          </a:p>
          <a:p>
            <a:r>
              <a:rPr lang="en-US" dirty="0"/>
              <a:t>✔ </a:t>
            </a:r>
            <a:r>
              <a:rPr lang="en-US" b="1" dirty="0"/>
              <a:t>Tracks Changes</a:t>
            </a:r>
            <a:r>
              <a:rPr lang="en-US" dirty="0"/>
              <a:t> – Keeps a history of code modifications.</a:t>
            </a:r>
            <a:br>
              <a:rPr lang="en-US" dirty="0"/>
            </a:br>
            <a:r>
              <a:rPr lang="en-US" dirty="0"/>
              <a:t>✔ </a:t>
            </a:r>
            <a:r>
              <a:rPr lang="en-US" b="1" dirty="0"/>
              <a:t>Collaboration</a:t>
            </a:r>
            <a:r>
              <a:rPr lang="en-US" dirty="0"/>
              <a:t> – Multiple developers can work on the same project simultaneously.</a:t>
            </a:r>
            <a:br>
              <a:rPr lang="en-US" dirty="0"/>
            </a:br>
            <a:r>
              <a:rPr lang="en-US" dirty="0"/>
              <a:t>✔ </a:t>
            </a:r>
            <a:r>
              <a:rPr lang="en-US" b="1" dirty="0"/>
              <a:t>Branching &amp; Merging</a:t>
            </a:r>
            <a:r>
              <a:rPr lang="en-US" dirty="0"/>
              <a:t> – Work on different features without affecting the main code.</a:t>
            </a:r>
            <a:br>
              <a:rPr lang="en-US" dirty="0"/>
            </a:br>
            <a:r>
              <a:rPr lang="en-US" dirty="0"/>
              <a:t>✔ </a:t>
            </a:r>
            <a:r>
              <a:rPr lang="en-US" b="1" dirty="0"/>
              <a:t>Reversibility</a:t>
            </a:r>
            <a:r>
              <a:rPr lang="en-US" dirty="0"/>
              <a:t> – Roll back to previous versions if needed.</a:t>
            </a:r>
            <a:br>
              <a:rPr lang="en-US" dirty="0"/>
            </a:br>
            <a:r>
              <a:rPr lang="en-US" dirty="0"/>
              <a:t>✔ </a:t>
            </a:r>
            <a:r>
              <a:rPr lang="en-US" b="1" dirty="0"/>
              <a:t>Integration with CI/CD</a:t>
            </a:r>
            <a:r>
              <a:rPr lang="en-US" dirty="0"/>
              <a:t> – Works with </a:t>
            </a:r>
            <a:r>
              <a:rPr lang="en-US" b="1" dirty="0"/>
              <a:t>Jenkins, GitHub Actions, </a:t>
            </a:r>
            <a:r>
              <a:rPr lang="en-US" b="1" dirty="0" err="1"/>
              <a:t>GitLab</a:t>
            </a:r>
            <a:r>
              <a:rPr lang="en-US" b="1" dirty="0"/>
              <a:t> CI/CD</a:t>
            </a:r>
            <a:r>
              <a:rPr lang="en-US" dirty="0"/>
              <a:t> for automation.</a:t>
            </a:r>
          </a:p>
          <a:p>
            <a:endParaRPr lang="en-US" dirty="0"/>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584033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r>
              <a:rPr lang="en-US" dirty="0" smtClean="0"/>
              <a:t>Advantages of GIT</a:t>
            </a:r>
            <a:endParaRPr lang="en-US" dirty="0">
              <a:latin typeface="Times New Roman"/>
              <a:cs typeface="Times New Roman"/>
            </a:endParaRPr>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a:xfrm>
            <a:off x="838200" y="1690687"/>
            <a:ext cx="10515600" cy="4486275"/>
          </a:xfrm>
        </p:spPr>
        <p:txBody>
          <a:bodyPr vert="horz" lIns="91440" tIns="45720" rIns="91440" bIns="45720" rtlCol="0" anchor="t">
            <a:normAutofit lnSpcReduction="10000"/>
          </a:bodyPr>
          <a:lstStyle/>
          <a:p>
            <a:r>
              <a:rPr lang="en-US" b="1" dirty="0"/>
              <a:t>🔹 Key Features of </a:t>
            </a:r>
            <a:r>
              <a:rPr lang="en-US" b="1" dirty="0" err="1"/>
              <a:t>Git</a:t>
            </a:r>
            <a:endParaRPr lang="en-US" b="1" dirty="0"/>
          </a:p>
          <a:p>
            <a:r>
              <a:rPr lang="en-US" b="1" dirty="0"/>
              <a:t>Distributed System</a:t>
            </a:r>
            <a:r>
              <a:rPr lang="en-US" dirty="0"/>
              <a:t> – Every developer has a full copy of the repository.</a:t>
            </a:r>
          </a:p>
          <a:p>
            <a:r>
              <a:rPr lang="en-US" b="1" dirty="0"/>
              <a:t>Branching &amp; Merging</a:t>
            </a:r>
            <a:r>
              <a:rPr lang="en-US" dirty="0"/>
              <a:t> – Enables working on multiple features in parallel.</a:t>
            </a:r>
          </a:p>
          <a:p>
            <a:r>
              <a:rPr lang="en-US" b="1" dirty="0"/>
              <a:t>Commit History</a:t>
            </a:r>
            <a:r>
              <a:rPr lang="en-US" dirty="0"/>
              <a:t> – Maintains a record of all changes.</a:t>
            </a:r>
          </a:p>
          <a:p>
            <a:r>
              <a:rPr lang="en-US" b="1" dirty="0"/>
              <a:t>Efficient Performance</a:t>
            </a:r>
            <a:r>
              <a:rPr lang="en-US" dirty="0"/>
              <a:t> – Faster than centralized version control systems (e.g., SVN).</a:t>
            </a:r>
          </a:p>
          <a:p>
            <a:r>
              <a:rPr lang="en-US" b="1" dirty="0"/>
              <a:t>Security</a:t>
            </a:r>
            <a:r>
              <a:rPr lang="en-US" dirty="0"/>
              <a:t> – Uses </a:t>
            </a:r>
            <a:r>
              <a:rPr lang="en-US" dirty="0" smtClean="0"/>
              <a:t>SHA-1 (</a:t>
            </a:r>
            <a:r>
              <a:rPr lang="en-US" dirty="0"/>
              <a:t>cryptographic hash </a:t>
            </a:r>
            <a:r>
              <a:rPr lang="en-US" dirty="0" smtClean="0"/>
              <a:t>function) </a:t>
            </a:r>
            <a:r>
              <a:rPr lang="en-US" dirty="0"/>
              <a:t>hashing to ensure data integrity.</a:t>
            </a:r>
          </a:p>
          <a:p>
            <a:endParaRPr lang="en-US" dirty="0"/>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34579293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360</TotalTime>
  <Words>1206</Words>
  <Application>Microsoft Office PowerPoint</Application>
  <PresentationFormat>Widescreen</PresentationFormat>
  <Paragraphs>162</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Aptos Display</vt:lpstr>
      <vt:lpstr>Arial</vt:lpstr>
      <vt:lpstr>Times New Roman</vt:lpstr>
      <vt:lpstr>office theme</vt:lpstr>
      <vt:lpstr> </vt:lpstr>
      <vt:lpstr>DevOps - Introduction</vt:lpstr>
      <vt:lpstr>DevOps - Lifecycle</vt:lpstr>
      <vt:lpstr>Why is DevOps Important?</vt:lpstr>
      <vt:lpstr>Continuous Integration (CI), Continuous Delivery (CD), and Continuous Deployment (CD)</vt:lpstr>
      <vt:lpstr>1. Continuous Integration (CI)</vt:lpstr>
      <vt:lpstr>2. Continuous Delivery (CD)</vt:lpstr>
      <vt:lpstr>3. Continuous Deployment (CD)</vt:lpstr>
      <vt:lpstr>Key Differences Between CI, CD (Delivery), and CD (Deployment)</vt:lpstr>
      <vt:lpstr>Benefits of CI/CD in DevOps</vt:lpstr>
      <vt:lpstr>Introduction to DevOps Tools</vt:lpstr>
      <vt:lpstr>Introduction to DevOps Tools</vt:lpstr>
      <vt:lpstr>Introduction to DevOps Tools</vt:lpstr>
      <vt:lpstr>Introduction to DevOps Tools</vt:lpstr>
      <vt:lpstr>Introduction to DevOps Tools</vt:lpstr>
      <vt:lpstr>Introduction to DevOps Tools</vt:lpstr>
      <vt:lpstr>Introduction to DevOps Tools</vt:lpstr>
      <vt:lpstr>Introduction to DevOps Tools</vt:lpstr>
      <vt:lpstr>Introduction to DevOps Tools</vt:lpstr>
      <vt:lpstr>Introduction to DevOps Tools</vt:lpstr>
      <vt:lpstr>Version Control</vt:lpstr>
      <vt:lpstr>GIT for Version Control</vt:lpstr>
      <vt:lpstr>Advantages of GIT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
  <cp:lastModifiedBy>ADMIN</cp:lastModifiedBy>
  <cp:revision>219</cp:revision>
  <dcterms:created xsi:type="dcterms:W3CDTF">2025-01-03T03:28:48Z</dcterms:created>
  <dcterms:modified xsi:type="dcterms:W3CDTF">2025-02-11T11:22:59Z</dcterms:modified>
</cp:coreProperties>
</file>