
<file path=[Content_Types].xml><?xml version="1.0" encoding="utf-8"?>
<Types xmlns="http://schemas.openxmlformats.org/package/2006/content-types">
  <Default Extension="png" ContentType="image/png"/>
  <Default Extension="jpeg" ContentType="image/jpeg"/>
  <Default Extension="rels" ContentType="application/vnd.openxmlformats-package.relationships+xml"/>
  <Default Extension="xml" ContentType="application/xml"/>
  <Default Extension="jpg" ContentType="image/jpeg"/>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Override PartName="/ppt/revisionInfo.xml" ContentType="application/vnd.ms-powerpoint.revisioninfo+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60" r:id="rId1"/>
  </p:sldMasterIdLst>
  <p:sldIdLst>
    <p:sldId id="256" r:id="rId2"/>
    <p:sldId id="258" r:id="rId3"/>
    <p:sldId id="259" r:id="rId4"/>
    <p:sldId id="260" r:id="rId5"/>
    <p:sldId id="261" r:id="rId6"/>
    <p:sldId id="262" r:id="rId7"/>
    <p:sldId id="263" r:id="rId8"/>
    <p:sldId id="264" r:id="rId9"/>
    <p:sldId id="265" r:id="rId10"/>
    <p:sldId id="266" r:id="rId11"/>
    <p:sldId id="267" r:id="rId12"/>
    <p:sldId id="268" r:id="rId13"/>
    <p:sldId id="270" r:id="rId14"/>
    <p:sldId id="269" r:id="rId15"/>
    <p:sldId id="271" r:id="rId16"/>
    <p:sldId id="272" r:id="rId17"/>
    <p:sldId id="273" r:id="rId18"/>
    <p:sldId id="274" r:id="rId19"/>
    <p:sldId id="275" r:id="rId20"/>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5EFCE667-6B9A-171C-3033-DE91EF1DE57E}" v="77" dt="2025-01-24T01:45:32.347"/>
    <p1510:client id="{B318F218-9284-DC7D-7845-497FE808A7C7}" v="71" dt="2025-01-24T05:13:06.127"/>
    <p1510:client id="{C2D42B61-264D-C288-9538-260D47A02891}" v="165" dt="2025-01-22T08:32:11.369"/>
  </p1510:revLst>
</p1510:revInfo>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p:cViewPr varScale="1">
        <p:scale>
          <a:sx n="70" d="100"/>
          <a:sy n="70" d="100"/>
        </p:scale>
        <p:origin x="714" y="7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3" Type="http://schemas.openxmlformats.org/officeDocument/2006/relationships/slide" Target="slides/slide2.xml"/><Relationship Id="rId21" Type="http://schemas.openxmlformats.org/officeDocument/2006/relationships/presProps" Target="presProp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tableStyles" Target="tableStyle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theme" Target="theme/theme1.xml"/><Relationship Id="rId10" Type="http://schemas.openxmlformats.org/officeDocument/2006/relationships/slide" Target="slides/slide9.xml"/><Relationship Id="rId19" Type="http://schemas.openxmlformats.org/officeDocument/2006/relationships/slide" Target="slides/slide18.xml"/><Relationship Id="rId60" Type="http://schemas.microsoft.com/office/2015/10/relationships/revisionInfo" Target="revisionInfo.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viewProps" Target="viewProps.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p>
        </p:txBody>
      </p:sp>
      <p:sp>
        <p:nvSpPr>
          <p:cNvPr id="3" name="Subtitle 2"/>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p:cNvSpPr>
            <a:spLocks noGrp="1"/>
          </p:cNvSpPr>
          <p:nvPr>
            <p:ph type="dt" sz="half" idx="10"/>
          </p:nvPr>
        </p:nvSpPr>
        <p:spPr/>
        <p:txBody>
          <a:bodyPr/>
          <a:lstStyle/>
          <a:p>
            <a:fld id="{846CE7D5-CF57-46EF-B807-FDD0502418D4}" type="datetimeFigureOut">
              <a:rPr lang="en-US" smtClean="0"/>
              <a:t>2/1/2025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330EA680-D336-4FF7-8B7A-9848BB0A1C32}" type="slidenum">
              <a:rPr lang="en-US" smtClean="0"/>
              <a:t>‹#›</a:t>
            </a:fld>
            <a:endParaRPr lang="en-US"/>
          </a:p>
        </p:txBody>
      </p:sp>
    </p:spTree>
    <p:extLst>
      <p:ext uri="{BB962C8B-B14F-4D97-AF65-F5344CB8AC3E}">
        <p14:creationId xmlns:p14="http://schemas.microsoft.com/office/powerpoint/2010/main" val="2385387890"/>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846CE7D5-CF57-46EF-B807-FDD0502418D4}" type="datetimeFigureOut">
              <a:rPr lang="en-US" smtClean="0"/>
              <a:t>2/1/2025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330EA680-D336-4FF7-8B7A-9848BB0A1C32}" type="slidenum">
              <a:rPr lang="en-US" smtClean="0"/>
              <a:t>‹#›</a:t>
            </a:fld>
            <a:endParaRPr lang="en-US"/>
          </a:p>
        </p:txBody>
      </p:sp>
    </p:spTree>
    <p:extLst>
      <p:ext uri="{BB962C8B-B14F-4D97-AF65-F5344CB8AC3E}">
        <p14:creationId xmlns:p14="http://schemas.microsoft.com/office/powerpoint/2010/main" val="949138452"/>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831850" y="1709738"/>
            <a:ext cx="10515600" cy="2852737"/>
          </a:xfrm>
        </p:spPr>
        <p:txBody>
          <a:bodyPr anchor="b"/>
          <a:lstStyle>
            <a:lvl1pPr>
              <a:defRPr sz="6000"/>
            </a:lvl1pPr>
          </a:lstStyle>
          <a:p>
            <a:r>
              <a:rPr lang="en-US"/>
              <a:t>Click to edit Master title style</a:t>
            </a:r>
          </a:p>
        </p:txBody>
      </p:sp>
      <p:sp>
        <p:nvSpPr>
          <p:cNvPr id="3" name="Text Placeholder 2"/>
          <p:cNvSpPr>
            <a:spLocks noGrp="1"/>
          </p:cNvSpPr>
          <p:nvPr>
            <p:ph type="body" idx="1"/>
          </p:nvPr>
        </p:nvSpPr>
        <p:spPr>
          <a:xfrm>
            <a:off x="831850" y="4589463"/>
            <a:ext cx="10515600" cy="1500187"/>
          </a:xfrm>
        </p:spPr>
        <p:txBody>
          <a:bodyPr/>
          <a:lstStyle>
            <a:lvl1pPr marL="0" indent="0">
              <a:buNone/>
              <a:defRPr sz="2400">
                <a:solidFill>
                  <a:schemeClr val="tx1">
                    <a:tint val="82000"/>
                  </a:schemeClr>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846CE7D5-CF57-46EF-B807-FDD0502418D4}" type="datetimeFigureOut">
              <a:rPr lang="en-US" smtClean="0"/>
              <a:t>2/1/2025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330EA680-D336-4FF7-8B7A-9848BB0A1C32}" type="slidenum">
              <a:rPr lang="en-US" smtClean="0"/>
              <a:t>‹#›</a:t>
            </a:fld>
            <a:endParaRPr lang="en-US"/>
          </a:p>
        </p:txBody>
      </p:sp>
    </p:spTree>
    <p:extLst>
      <p:ext uri="{BB962C8B-B14F-4D97-AF65-F5344CB8AC3E}">
        <p14:creationId xmlns:p14="http://schemas.microsoft.com/office/powerpoint/2010/main" val="2591524520"/>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846CE7D5-CF57-46EF-B807-FDD0502418D4}" type="datetimeFigureOut">
              <a:rPr lang="en-US" smtClean="0"/>
              <a:t>2/1/2025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330EA680-D336-4FF7-8B7A-9848BB0A1C32}" type="slidenum">
              <a:rPr lang="en-US" smtClean="0"/>
              <a:t>‹#›</a:t>
            </a:fld>
            <a:endParaRPr lang="en-US"/>
          </a:p>
        </p:txBody>
      </p:sp>
    </p:spTree>
    <p:extLst>
      <p:ext uri="{BB962C8B-B14F-4D97-AF65-F5344CB8AC3E}">
        <p14:creationId xmlns:p14="http://schemas.microsoft.com/office/powerpoint/2010/main" val="1203092039"/>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839788" y="365125"/>
            <a:ext cx="10515600" cy="1325563"/>
          </a:xfrm>
        </p:spPr>
        <p:txBody>
          <a:bodyPr/>
          <a:lstStyle/>
          <a:p>
            <a:r>
              <a:rPr lang="en-US"/>
              <a:t>Click to edit Master title style</a:t>
            </a:r>
          </a:p>
        </p:txBody>
      </p:sp>
      <p:sp>
        <p:nvSpPr>
          <p:cNvPr id="3" name="Text Placeholder 2"/>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846CE7D5-CF57-46EF-B807-FDD0502418D4}" type="datetimeFigureOut">
              <a:rPr lang="en-US" smtClean="0"/>
              <a:t>2/1/2025</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330EA680-D336-4FF7-8B7A-9848BB0A1C32}" type="slidenum">
              <a:rPr lang="en-US" smtClean="0"/>
              <a:t>‹#›</a:t>
            </a:fld>
            <a:endParaRPr lang="en-US"/>
          </a:p>
        </p:txBody>
      </p:sp>
    </p:spTree>
    <p:extLst>
      <p:ext uri="{BB962C8B-B14F-4D97-AF65-F5344CB8AC3E}">
        <p14:creationId xmlns:p14="http://schemas.microsoft.com/office/powerpoint/2010/main" val="3733172339"/>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846CE7D5-CF57-46EF-B807-FDD0502418D4}" type="datetimeFigureOut">
              <a:rPr lang="en-US" smtClean="0"/>
              <a:t>2/1/2025</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330EA680-D336-4FF7-8B7A-9848BB0A1C32}" type="slidenum">
              <a:rPr lang="en-US" smtClean="0"/>
              <a:t>‹#›</a:t>
            </a:fld>
            <a:endParaRPr lang="en-US"/>
          </a:p>
        </p:txBody>
      </p:sp>
    </p:spTree>
    <p:extLst>
      <p:ext uri="{BB962C8B-B14F-4D97-AF65-F5344CB8AC3E}">
        <p14:creationId xmlns:p14="http://schemas.microsoft.com/office/powerpoint/2010/main" val="3210312558"/>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846CE7D5-CF57-46EF-B807-FDD0502418D4}" type="datetimeFigureOut">
              <a:rPr lang="en-US" smtClean="0"/>
              <a:t>2/1/2025</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330EA680-D336-4FF7-8B7A-9848BB0A1C32}" type="slidenum">
              <a:rPr lang="en-US" smtClean="0"/>
              <a:t>‹#›</a:t>
            </a:fld>
            <a:endParaRPr lang="en-US"/>
          </a:p>
        </p:txBody>
      </p:sp>
    </p:spTree>
    <p:extLst>
      <p:ext uri="{BB962C8B-B14F-4D97-AF65-F5344CB8AC3E}">
        <p14:creationId xmlns:p14="http://schemas.microsoft.com/office/powerpoint/2010/main" val="3146388984"/>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Content Placeholder 2"/>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846CE7D5-CF57-46EF-B807-FDD0502418D4}" type="datetimeFigureOut">
              <a:rPr lang="en-US" smtClean="0"/>
              <a:t>2/1/2025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330EA680-D336-4FF7-8B7A-9848BB0A1C32}" type="slidenum">
              <a:rPr lang="en-US" smtClean="0"/>
              <a:t>‹#›</a:t>
            </a:fld>
            <a:endParaRPr lang="en-US"/>
          </a:p>
        </p:txBody>
      </p:sp>
    </p:spTree>
    <p:extLst>
      <p:ext uri="{BB962C8B-B14F-4D97-AF65-F5344CB8AC3E}">
        <p14:creationId xmlns:p14="http://schemas.microsoft.com/office/powerpoint/2010/main" val="3171841454"/>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Picture Placeholder 2"/>
          <p:cNvSpPr>
            <a:spLocks noGrp="1" noChangeAspect="1"/>
          </p:cNvSpPr>
          <p:nvPr>
            <p:ph type="pic" idx="1"/>
          </p:nvPr>
        </p:nvSpPr>
        <p:spPr>
          <a:xfrm>
            <a:off x="5183188" y="987425"/>
            <a:ext cx="6172200" cy="4873625"/>
          </a:xfrm>
        </p:spPr>
        <p:txBody>
          <a:bodyPr anchor="t"/>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846CE7D5-CF57-46EF-B807-FDD0502418D4}" type="datetimeFigureOut">
              <a:rPr lang="en-US" smtClean="0"/>
              <a:t>2/1/2025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330EA680-D336-4FF7-8B7A-9848BB0A1C32}" type="slidenum">
              <a:rPr lang="en-US" smtClean="0"/>
              <a:t>‹#›</a:t>
            </a:fld>
            <a:endParaRPr lang="en-US"/>
          </a:p>
        </p:txBody>
      </p:sp>
    </p:spTree>
    <p:extLst>
      <p:ext uri="{BB962C8B-B14F-4D97-AF65-F5344CB8AC3E}">
        <p14:creationId xmlns:p14="http://schemas.microsoft.com/office/powerpoint/2010/main" val="1718958274"/>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846CE7D5-CF57-46EF-B807-FDD0502418D4}" type="datetimeFigureOut">
              <a:rPr lang="en-US" smtClean="0"/>
              <a:t>2/1/2025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330EA680-D336-4FF7-8B7A-9848BB0A1C32}" type="slidenum">
              <a:rPr lang="en-US" smtClean="0"/>
              <a:t>‹#›</a:t>
            </a:fld>
            <a:endParaRPr lang="en-US"/>
          </a:p>
        </p:txBody>
      </p:sp>
    </p:spTree>
    <p:extLst>
      <p:ext uri="{BB962C8B-B14F-4D97-AF65-F5344CB8AC3E}">
        <p14:creationId xmlns:p14="http://schemas.microsoft.com/office/powerpoint/2010/main" val="2202905451"/>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724900" y="365125"/>
            <a:ext cx="2628900" cy="5811838"/>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846CE7D5-CF57-46EF-B807-FDD0502418D4}" type="datetimeFigureOut">
              <a:rPr lang="en-US" smtClean="0"/>
              <a:t>2/1/2025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330EA680-D336-4FF7-8B7A-9848BB0A1C32}" type="slidenum">
              <a:rPr lang="en-US" smtClean="0"/>
              <a:t>‹#›</a:t>
            </a:fld>
            <a:endParaRPr lang="en-US"/>
          </a:p>
        </p:txBody>
      </p:sp>
    </p:spTree>
    <p:extLst>
      <p:ext uri="{BB962C8B-B14F-4D97-AF65-F5344CB8AC3E}">
        <p14:creationId xmlns:p14="http://schemas.microsoft.com/office/powerpoint/2010/main" val="3479445657"/>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82000"/>
                  </a:schemeClr>
                </a:solidFill>
              </a:defRPr>
            </a:lvl1pPr>
          </a:lstStyle>
          <a:p>
            <a:fld id="{846CE7D5-CF57-46EF-B807-FDD0502418D4}" type="datetimeFigureOut">
              <a:rPr lang="en-US" smtClean="0"/>
              <a:t>2/1/2025</a:t>
            </a:fld>
            <a:endParaRPr lang="en-US"/>
          </a:p>
        </p:txBody>
      </p:sp>
      <p:sp>
        <p:nvSpPr>
          <p:cNvPr id="5" name="Footer Placeholder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82000"/>
                  </a:schemeClr>
                </a:solidFill>
              </a:defRPr>
            </a:lvl1pPr>
          </a:lstStyle>
          <a:p>
            <a:endParaRPr lang="en-US"/>
          </a:p>
        </p:txBody>
      </p:sp>
      <p:sp>
        <p:nvSpPr>
          <p:cNvPr id="6" name="Slide Number Placeholder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82000"/>
                  </a:schemeClr>
                </a:solidFill>
              </a:defRPr>
            </a:lvl1pPr>
          </a:lstStyle>
          <a:p>
            <a:fld id="{330EA680-D336-4FF7-8B7A-9848BB0A1C32}" type="slidenum">
              <a:rPr lang="en-US" smtClean="0"/>
              <a:t>‹#›</a:t>
            </a:fld>
            <a:endParaRPr lang="en-US"/>
          </a:p>
        </p:txBody>
      </p:sp>
    </p:spTree>
    <p:extLst>
      <p:ext uri="{BB962C8B-B14F-4D97-AF65-F5344CB8AC3E}">
        <p14:creationId xmlns:p14="http://schemas.microsoft.com/office/powerpoint/2010/main" val="2460954070"/>
      </p:ext>
    </p:extLst>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2.jpg"/><Relationship Id="rId2" Type="http://schemas.openxmlformats.org/officeDocument/2006/relationships/image" Target="../media/image1.png"/><Relationship Id="rId1" Type="http://schemas.openxmlformats.org/officeDocument/2006/relationships/slideLayout" Target="../slideLayouts/slideLayout1.xml"/><Relationship Id="rId4" Type="http://schemas.openxmlformats.org/officeDocument/2006/relationships/image" Target="../media/image3.jpg"/></Relationships>
</file>

<file path=ppt/slides/_rels/slide2.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40" name="Rectangle 39">
            <a:extLst>
              <a:ext uri="{FF2B5EF4-FFF2-40B4-BE49-F238E27FC236}">
                <a16:creationId xmlns="" xmlns:a16="http://schemas.microsoft.com/office/drawing/2014/main" id="{B9D7E975-9161-4F2D-AC53-69E1912F6B5D}"/>
              </a:ext>
              <a:ext uri="{C183D7F6-B498-43B3-948B-1728B52AA6E4}">
                <adec:decorative xmlns=""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2" name="Right Triangle 41">
            <a:extLst>
              <a:ext uri="{FF2B5EF4-FFF2-40B4-BE49-F238E27FC236}">
                <a16:creationId xmlns="" xmlns:a16="http://schemas.microsoft.com/office/drawing/2014/main" id="{827DC2C4-B485-428A-BF4A-472D2967F47F}"/>
              </a:ext>
              <a:ext uri="{C183D7F6-B498-43B3-948B-1728B52AA6E4}">
                <adec:decorative xmlns=""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 xmlns:p16="http://schemas.microsoft.com/office/powerpoint/2015/main" val="1"/>
              </p:ext>
            </p:extLst>
          </p:nvPr>
        </p:nvSpPr>
        <p:spPr>
          <a:xfrm flipH="1">
            <a:off x="8576720" y="3335867"/>
            <a:ext cx="3291840" cy="3200400"/>
          </a:xfrm>
          <a:prstGeom prst="rtTriangle">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p:cNvSpPr>
            <a:spLocks noGrp="1"/>
          </p:cNvSpPr>
          <p:nvPr>
            <p:ph type="ctrTitle"/>
          </p:nvPr>
        </p:nvSpPr>
        <p:spPr>
          <a:xfrm>
            <a:off x="8052497" y="1056640"/>
            <a:ext cx="3197660" cy="3125746"/>
          </a:xfrm>
        </p:spPr>
        <p:txBody>
          <a:bodyPr anchor="b">
            <a:normAutofit/>
          </a:bodyPr>
          <a:lstStyle/>
          <a:p>
            <a:pPr algn="l"/>
            <a:r>
              <a:rPr lang="en-US" sz="5000" dirty="0"/>
              <a:t/>
            </a:r>
            <a:br>
              <a:rPr lang="en-US" sz="5000" dirty="0"/>
            </a:br>
            <a:endParaRPr lang="en-US" sz="5000" dirty="0"/>
          </a:p>
        </p:txBody>
      </p:sp>
      <p:sp>
        <p:nvSpPr>
          <p:cNvPr id="3" name="Subtitle 2"/>
          <p:cNvSpPr>
            <a:spLocks noGrp="1"/>
          </p:cNvSpPr>
          <p:nvPr>
            <p:ph type="subTitle" idx="1"/>
          </p:nvPr>
        </p:nvSpPr>
        <p:spPr>
          <a:xfrm>
            <a:off x="8052496" y="4301656"/>
            <a:ext cx="2705619" cy="762618"/>
          </a:xfrm>
        </p:spPr>
        <p:txBody>
          <a:bodyPr anchor="t">
            <a:normAutofit/>
          </a:bodyPr>
          <a:lstStyle/>
          <a:p>
            <a:pPr algn="l"/>
            <a:r>
              <a:rPr lang="en-US" sz="2000"/>
              <a:t>   </a:t>
            </a:r>
          </a:p>
        </p:txBody>
      </p:sp>
      <p:pic>
        <p:nvPicPr>
          <p:cNvPr id="4" name="Picture 3" descr="A black and white logo&#10;&#10;AI-generated content may be incorrect.">
            <a:extLst>
              <a:ext uri="{FF2B5EF4-FFF2-40B4-BE49-F238E27FC236}">
                <a16:creationId xmlns="" xmlns:a16="http://schemas.microsoft.com/office/drawing/2014/main" id="{05B55EE7-14DB-A9C5-2713-A3A00D67778E}"/>
              </a:ext>
            </a:extLst>
          </p:cNvPr>
          <p:cNvPicPr>
            <a:picLocks noChangeAspect="1"/>
          </p:cNvPicPr>
          <p:nvPr/>
        </p:nvPicPr>
        <p:blipFill>
          <a:blip r:embed="rId2"/>
          <a:stretch>
            <a:fillRect/>
          </a:stretch>
        </p:blipFill>
        <p:spPr>
          <a:xfrm>
            <a:off x="10223261" y="6851"/>
            <a:ext cx="1808055" cy="623039"/>
          </a:xfrm>
          <a:prstGeom prst="rect">
            <a:avLst/>
          </a:prstGeom>
        </p:spPr>
      </p:pic>
      <p:pic>
        <p:nvPicPr>
          <p:cNvPr id="6" name="Picture 5"/>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5086082" y="1244850"/>
            <a:ext cx="7105918" cy="3994176"/>
          </a:xfrm>
          <a:prstGeom prst="rect">
            <a:avLst/>
          </a:prstGeom>
        </p:spPr>
      </p:pic>
      <p:pic>
        <p:nvPicPr>
          <p:cNvPr id="9" name="Picture 8"/>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661412" y="1815151"/>
            <a:ext cx="5091569" cy="3120915"/>
          </a:xfrm>
          <a:prstGeom prst="rect">
            <a:avLst/>
          </a:prstGeom>
        </p:spPr>
      </p:pic>
    </p:spTree>
    <p:extLst>
      <p:ext uri="{BB962C8B-B14F-4D97-AF65-F5344CB8AC3E}">
        <p14:creationId xmlns:p14="http://schemas.microsoft.com/office/powerpoint/2010/main" val="109857222"/>
      </p:ext>
    </p:extLst>
  </p:cSld>
  <p:clrMapOvr>
    <a:masterClrMapping/>
  </p:clrMapOvr>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 xmlns:a16="http://schemas.microsoft.com/office/drawing/2014/main" id="{D4094619-4E3B-6896-A8BE-214D255113A0}"/>
              </a:ext>
            </a:extLst>
          </p:cNvPr>
          <p:cNvSpPr>
            <a:spLocks noGrp="1"/>
          </p:cNvSpPr>
          <p:nvPr>
            <p:ph type="title"/>
          </p:nvPr>
        </p:nvSpPr>
        <p:spPr/>
        <p:txBody>
          <a:bodyPr/>
          <a:lstStyle/>
          <a:p>
            <a:r>
              <a:rPr lang="en-US" b="1" dirty="0" smtClean="0">
                <a:latin typeface="Times New Roman"/>
                <a:cs typeface="Times New Roman"/>
              </a:rPr>
              <a:t>DevOps - Introduction</a:t>
            </a:r>
            <a:endParaRPr lang="en-US" b="1" dirty="0">
              <a:latin typeface="Times New Roman"/>
              <a:cs typeface="Times New Roman"/>
            </a:endParaRPr>
          </a:p>
        </p:txBody>
      </p:sp>
      <p:pic>
        <p:nvPicPr>
          <p:cNvPr id="19" name="Picture 18" descr="A black and white logo&#10;&#10;AI-generated content may be incorrect.">
            <a:extLst>
              <a:ext uri="{FF2B5EF4-FFF2-40B4-BE49-F238E27FC236}">
                <a16:creationId xmlns="" xmlns:a16="http://schemas.microsoft.com/office/drawing/2014/main" id="{560DDD64-AEEA-622F-CBCF-72DC3D60E208}"/>
              </a:ext>
            </a:extLst>
          </p:cNvPr>
          <p:cNvPicPr>
            <a:picLocks noChangeAspect="1"/>
          </p:cNvPicPr>
          <p:nvPr/>
        </p:nvPicPr>
        <p:blipFill>
          <a:blip r:embed="rId2"/>
          <a:stretch>
            <a:fillRect/>
          </a:stretch>
        </p:blipFill>
        <p:spPr>
          <a:xfrm>
            <a:off x="10661671" y="6851"/>
            <a:ext cx="1369645" cy="664793"/>
          </a:xfrm>
          <a:prstGeom prst="rect">
            <a:avLst/>
          </a:prstGeom>
        </p:spPr>
      </p:pic>
      <p:sp>
        <p:nvSpPr>
          <p:cNvPr id="3" name="Content Placeholder 2"/>
          <p:cNvSpPr>
            <a:spLocks noGrp="1"/>
          </p:cNvSpPr>
          <p:nvPr>
            <p:ph idx="1"/>
          </p:nvPr>
        </p:nvSpPr>
        <p:spPr/>
        <p:txBody>
          <a:bodyPr/>
          <a:lstStyle/>
          <a:p>
            <a:endParaRPr lang="en-US" dirty="0" smtClean="0"/>
          </a:p>
          <a:p>
            <a:r>
              <a:rPr lang="en-US" b="1" dirty="0"/>
              <a:t>DevOps</a:t>
            </a:r>
            <a:r>
              <a:rPr lang="en-US" dirty="0"/>
              <a:t> is a combination of cultural philosophies, practices, and tools that help organizations deliver applications and services at high velocity. </a:t>
            </a:r>
            <a:endParaRPr lang="en-US" dirty="0" smtClean="0"/>
          </a:p>
          <a:p>
            <a:r>
              <a:rPr lang="en-US" dirty="0"/>
              <a:t>Essentially, DevOps bridges the gap between </a:t>
            </a:r>
            <a:r>
              <a:rPr lang="en-US" b="1" dirty="0"/>
              <a:t>Development</a:t>
            </a:r>
            <a:r>
              <a:rPr lang="en-US" dirty="0"/>
              <a:t> (Dev) and </a:t>
            </a:r>
            <a:r>
              <a:rPr lang="en-US" b="1" dirty="0"/>
              <a:t>Operations</a:t>
            </a:r>
            <a:r>
              <a:rPr lang="en-US" dirty="0"/>
              <a:t> (Ops) to foster collaboration and deliver better results.</a:t>
            </a:r>
          </a:p>
        </p:txBody>
      </p:sp>
    </p:spTree>
    <p:extLst>
      <p:ext uri="{BB962C8B-B14F-4D97-AF65-F5344CB8AC3E}">
        <p14:creationId xmlns:p14="http://schemas.microsoft.com/office/powerpoint/2010/main" val="3150450978"/>
      </p:ext>
    </p:extLst>
  </p:cSld>
  <p:clrMapOvr>
    <a:masterClrMapping/>
  </p:clrMapOvr>
  <p:timing>
    <p:tnLst>
      <p:par>
        <p:cTn id="1" dur="indefinite" restart="never" nodeType="tmRoot"/>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 xmlns:a16="http://schemas.microsoft.com/office/drawing/2014/main" id="{9CD4705F-2C82-0476-F7DF-0AB108ADA0D3}"/>
              </a:ext>
            </a:extLst>
          </p:cNvPr>
          <p:cNvSpPr>
            <a:spLocks noGrp="1"/>
          </p:cNvSpPr>
          <p:nvPr>
            <p:ph type="title"/>
          </p:nvPr>
        </p:nvSpPr>
        <p:spPr/>
        <p:txBody>
          <a:bodyPr/>
          <a:lstStyle/>
          <a:p>
            <a:r>
              <a:rPr lang="en-US" b="1" dirty="0" smtClean="0">
                <a:latin typeface="Times New Roman"/>
                <a:cs typeface="Times New Roman"/>
              </a:rPr>
              <a:t>DevOps - Lifecycle</a:t>
            </a:r>
            <a:endParaRPr lang="en-US" b="1" dirty="0">
              <a:latin typeface="Times New Roman"/>
              <a:cs typeface="Times New Roman"/>
            </a:endParaRPr>
          </a:p>
        </p:txBody>
      </p:sp>
      <p:sp>
        <p:nvSpPr>
          <p:cNvPr id="3" name="Content Placeholder 2">
            <a:extLst>
              <a:ext uri="{FF2B5EF4-FFF2-40B4-BE49-F238E27FC236}">
                <a16:creationId xmlns="" xmlns:a16="http://schemas.microsoft.com/office/drawing/2014/main" id="{464289A3-211E-6530-B1C9-F4BEF80F77D1}"/>
              </a:ext>
            </a:extLst>
          </p:cNvPr>
          <p:cNvSpPr>
            <a:spLocks noGrp="1"/>
          </p:cNvSpPr>
          <p:nvPr>
            <p:ph idx="1"/>
          </p:nvPr>
        </p:nvSpPr>
        <p:spPr/>
        <p:txBody>
          <a:bodyPr vert="horz" lIns="91440" tIns="45720" rIns="91440" bIns="45720" rtlCol="0" anchor="t">
            <a:normAutofit fontScale="92500" lnSpcReduction="10000"/>
          </a:bodyPr>
          <a:lstStyle/>
          <a:p>
            <a:r>
              <a:rPr lang="en-US" b="1" dirty="0"/>
              <a:t>Plan:</a:t>
            </a:r>
            <a:r>
              <a:rPr lang="en-US" dirty="0"/>
              <a:t> Define requirements and goals using tools like Jira or Azure Boards.</a:t>
            </a:r>
          </a:p>
          <a:p>
            <a:pPr lvl="0"/>
            <a:r>
              <a:rPr lang="en-US" b="1" dirty="0"/>
              <a:t>Develop:</a:t>
            </a:r>
            <a:r>
              <a:rPr lang="en-US" dirty="0"/>
              <a:t> Write, build, and version control code using </a:t>
            </a:r>
            <a:r>
              <a:rPr lang="en-US" dirty="0" err="1"/>
              <a:t>Git</a:t>
            </a:r>
            <a:r>
              <a:rPr lang="en-US" dirty="0"/>
              <a:t> or other repositories.</a:t>
            </a:r>
          </a:p>
          <a:p>
            <a:pPr lvl="0"/>
            <a:r>
              <a:rPr lang="en-US" b="1" dirty="0"/>
              <a:t>Build &amp; Test:</a:t>
            </a:r>
            <a:r>
              <a:rPr lang="en-US" dirty="0"/>
              <a:t> Automate building and testing using tools like Jenkins, </a:t>
            </a:r>
            <a:r>
              <a:rPr lang="en-US" dirty="0" err="1"/>
              <a:t>CircleCI</a:t>
            </a:r>
            <a:r>
              <a:rPr lang="en-US" dirty="0"/>
              <a:t>, or </a:t>
            </a:r>
            <a:r>
              <a:rPr lang="en-US" dirty="0" err="1"/>
              <a:t>GitLab</a:t>
            </a:r>
            <a:r>
              <a:rPr lang="en-US" dirty="0"/>
              <a:t> CI.</a:t>
            </a:r>
          </a:p>
          <a:p>
            <a:pPr lvl="0"/>
            <a:r>
              <a:rPr lang="en-US" b="1" dirty="0"/>
              <a:t>Release:</a:t>
            </a:r>
            <a:r>
              <a:rPr lang="en-US" dirty="0"/>
              <a:t> Package and release applications using containerization tools like Docker.</a:t>
            </a:r>
          </a:p>
          <a:p>
            <a:pPr lvl="0"/>
            <a:r>
              <a:rPr lang="en-US" b="1" dirty="0"/>
              <a:t>Deploy:</a:t>
            </a:r>
            <a:r>
              <a:rPr lang="en-US" dirty="0"/>
              <a:t> Automate deployments with tools like </a:t>
            </a:r>
            <a:r>
              <a:rPr lang="en-US" dirty="0" smtClean="0"/>
              <a:t>Kubernetes.</a:t>
            </a:r>
            <a:endParaRPr lang="en-US" dirty="0"/>
          </a:p>
          <a:p>
            <a:pPr lvl="0"/>
            <a:r>
              <a:rPr lang="en-US" b="1" dirty="0"/>
              <a:t>Operate:</a:t>
            </a:r>
            <a:r>
              <a:rPr lang="en-US" dirty="0"/>
              <a:t> Manage application performance and availability.</a:t>
            </a:r>
          </a:p>
          <a:p>
            <a:pPr lvl="0"/>
            <a:r>
              <a:rPr lang="en-US" b="1" dirty="0"/>
              <a:t>Monitor:</a:t>
            </a:r>
            <a:r>
              <a:rPr lang="en-US" dirty="0"/>
              <a:t> Gather logs and metrics to continuously improve systems.</a:t>
            </a:r>
          </a:p>
          <a:p>
            <a:endParaRPr lang="en-US" dirty="0">
              <a:solidFill>
                <a:schemeClr val="dk1"/>
              </a:solidFill>
              <a:latin typeface="Times New Roman"/>
              <a:cs typeface="Times New Roman"/>
            </a:endParaRPr>
          </a:p>
        </p:txBody>
      </p:sp>
      <p:pic>
        <p:nvPicPr>
          <p:cNvPr id="5" name="Picture 4" descr="A black and white logo&#10;&#10;AI-generated content may be incorrect.">
            <a:extLst>
              <a:ext uri="{FF2B5EF4-FFF2-40B4-BE49-F238E27FC236}">
                <a16:creationId xmlns="" xmlns:a16="http://schemas.microsoft.com/office/drawing/2014/main" id="{09C1C184-83A7-A13D-F566-253AABCFFFF6}"/>
              </a:ext>
            </a:extLst>
          </p:cNvPr>
          <p:cNvPicPr>
            <a:picLocks noChangeAspect="1"/>
          </p:cNvPicPr>
          <p:nvPr/>
        </p:nvPicPr>
        <p:blipFill>
          <a:blip r:embed="rId2"/>
          <a:stretch>
            <a:fillRect/>
          </a:stretch>
        </p:blipFill>
        <p:spPr>
          <a:xfrm>
            <a:off x="10661671" y="6851"/>
            <a:ext cx="1369645" cy="664793"/>
          </a:xfrm>
          <a:prstGeom prst="rect">
            <a:avLst/>
          </a:prstGeom>
        </p:spPr>
      </p:pic>
    </p:spTree>
    <p:extLst>
      <p:ext uri="{BB962C8B-B14F-4D97-AF65-F5344CB8AC3E}">
        <p14:creationId xmlns:p14="http://schemas.microsoft.com/office/powerpoint/2010/main" val="2743287298"/>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 xmlns:a16="http://schemas.microsoft.com/office/drawing/2014/main" id="{5222936C-95B8-0073-A638-A55495736D21}"/>
              </a:ext>
            </a:extLst>
          </p:cNvPr>
          <p:cNvSpPr>
            <a:spLocks noGrp="1"/>
          </p:cNvSpPr>
          <p:nvPr>
            <p:ph type="title"/>
          </p:nvPr>
        </p:nvSpPr>
        <p:spPr/>
        <p:txBody>
          <a:bodyPr/>
          <a:lstStyle/>
          <a:p>
            <a:r>
              <a:rPr lang="en-US" b="1" dirty="0"/>
              <a:t>Why is DevOps Important</a:t>
            </a:r>
            <a:r>
              <a:rPr lang="en-US" b="1" dirty="0" smtClean="0"/>
              <a:t>?</a:t>
            </a:r>
            <a:endParaRPr lang="en-US" dirty="0">
              <a:latin typeface="Times New Roman"/>
              <a:cs typeface="Times New Roman"/>
            </a:endParaRPr>
          </a:p>
        </p:txBody>
      </p:sp>
      <p:sp>
        <p:nvSpPr>
          <p:cNvPr id="3" name="Content Placeholder 2">
            <a:extLst>
              <a:ext uri="{FF2B5EF4-FFF2-40B4-BE49-F238E27FC236}">
                <a16:creationId xmlns="" xmlns:a16="http://schemas.microsoft.com/office/drawing/2014/main" id="{09E7F86C-8ADF-DFC2-9388-B0DC309DF9D4}"/>
              </a:ext>
            </a:extLst>
          </p:cNvPr>
          <p:cNvSpPr>
            <a:spLocks noGrp="1"/>
          </p:cNvSpPr>
          <p:nvPr>
            <p:ph idx="1"/>
          </p:nvPr>
        </p:nvSpPr>
        <p:spPr/>
        <p:txBody>
          <a:bodyPr vert="horz" lIns="91440" tIns="45720" rIns="91440" bIns="45720" rtlCol="0" anchor="t">
            <a:normAutofit/>
          </a:bodyPr>
          <a:lstStyle/>
          <a:p>
            <a:pPr marL="0" indent="0">
              <a:buNone/>
            </a:pPr>
            <a:r>
              <a:rPr lang="en-US" dirty="0"/>
              <a:t>In today’s competitive world, businesses need to innovate rapidly to meet customer demands and stay ahead of the competition. DevOps facilitates this by enabling</a:t>
            </a:r>
            <a:r>
              <a:rPr lang="en-US" dirty="0" smtClean="0"/>
              <a:t>:</a:t>
            </a:r>
          </a:p>
          <a:p>
            <a:pPr marL="0" indent="0">
              <a:buNone/>
            </a:pPr>
            <a:endParaRPr lang="en-US" dirty="0"/>
          </a:p>
          <a:p>
            <a:pPr lvl="0"/>
            <a:r>
              <a:rPr lang="en-US" dirty="0"/>
              <a:t>Faster delivery of software features and updates.</a:t>
            </a:r>
          </a:p>
          <a:p>
            <a:pPr lvl="0"/>
            <a:r>
              <a:rPr lang="en-US" dirty="0"/>
              <a:t>Improved collaboration between teams.</a:t>
            </a:r>
          </a:p>
          <a:p>
            <a:r>
              <a:rPr lang="en-US" dirty="0"/>
              <a:t>Greater resilience and reliability in software systems.</a:t>
            </a:r>
            <a:endParaRPr lang="en-US" dirty="0">
              <a:solidFill>
                <a:srgbClr val="273239"/>
              </a:solidFill>
              <a:latin typeface="Times New Roman"/>
              <a:ea typeface="+mn-lt"/>
              <a:cs typeface="+mn-lt"/>
            </a:endParaRPr>
          </a:p>
        </p:txBody>
      </p:sp>
      <p:pic>
        <p:nvPicPr>
          <p:cNvPr id="5" name="Picture 4" descr="A black and white logo&#10;&#10;AI-generated content may be incorrect.">
            <a:extLst>
              <a:ext uri="{FF2B5EF4-FFF2-40B4-BE49-F238E27FC236}">
                <a16:creationId xmlns="" xmlns:a16="http://schemas.microsoft.com/office/drawing/2014/main" id="{7D3EA213-6329-0184-9DD9-4F14FD29D1BA}"/>
              </a:ext>
            </a:extLst>
          </p:cNvPr>
          <p:cNvPicPr>
            <a:picLocks noChangeAspect="1"/>
          </p:cNvPicPr>
          <p:nvPr/>
        </p:nvPicPr>
        <p:blipFill>
          <a:blip r:embed="rId2"/>
          <a:stretch>
            <a:fillRect/>
          </a:stretch>
        </p:blipFill>
        <p:spPr>
          <a:xfrm>
            <a:off x="10661671" y="38166"/>
            <a:ext cx="1369645" cy="664793"/>
          </a:xfrm>
          <a:prstGeom prst="rect">
            <a:avLst/>
          </a:prstGeom>
        </p:spPr>
      </p:pic>
    </p:spTree>
    <p:extLst>
      <p:ext uri="{BB962C8B-B14F-4D97-AF65-F5344CB8AC3E}">
        <p14:creationId xmlns:p14="http://schemas.microsoft.com/office/powerpoint/2010/main" val="1428130028"/>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 xmlns:a16="http://schemas.microsoft.com/office/drawing/2014/main" id="{5222936C-95B8-0073-A638-A55495736D21}"/>
              </a:ext>
            </a:extLst>
          </p:cNvPr>
          <p:cNvSpPr>
            <a:spLocks noGrp="1"/>
          </p:cNvSpPr>
          <p:nvPr>
            <p:ph type="title"/>
          </p:nvPr>
        </p:nvSpPr>
        <p:spPr/>
        <p:txBody>
          <a:bodyPr/>
          <a:lstStyle/>
          <a:p>
            <a:pPr lvl="0"/>
            <a:r>
              <a:rPr lang="en-IN" dirty="0"/>
              <a:t>Project Execution Methodologies </a:t>
            </a:r>
            <a:endParaRPr lang="en-US" dirty="0"/>
          </a:p>
        </p:txBody>
      </p:sp>
      <p:sp>
        <p:nvSpPr>
          <p:cNvPr id="3" name="Content Placeholder 2">
            <a:extLst>
              <a:ext uri="{FF2B5EF4-FFF2-40B4-BE49-F238E27FC236}">
                <a16:creationId xmlns="" xmlns:a16="http://schemas.microsoft.com/office/drawing/2014/main" id="{09E7F86C-8ADF-DFC2-9388-B0DC309DF9D4}"/>
              </a:ext>
            </a:extLst>
          </p:cNvPr>
          <p:cNvSpPr>
            <a:spLocks noGrp="1"/>
          </p:cNvSpPr>
          <p:nvPr>
            <p:ph idx="1"/>
          </p:nvPr>
        </p:nvSpPr>
        <p:spPr/>
        <p:txBody>
          <a:bodyPr vert="horz" lIns="91440" tIns="45720" rIns="91440" bIns="45720" rtlCol="0" anchor="t">
            <a:normAutofit/>
          </a:bodyPr>
          <a:lstStyle/>
          <a:p>
            <a:pPr marL="0" indent="0">
              <a:buNone/>
            </a:pPr>
            <a:r>
              <a:rPr lang="en-IN" dirty="0"/>
              <a:t>IT Project Execution Methodologies are structured approaches to planning, organizing, executing, and delivering IT projects. These methodologies help teams ensure that projects are completed efficiently, within budget, on time, and with the desired quality. </a:t>
            </a:r>
            <a:endParaRPr lang="en-IN" dirty="0" smtClean="0"/>
          </a:p>
          <a:p>
            <a:pPr marL="0" indent="0">
              <a:buNone/>
            </a:pPr>
            <a:endParaRPr lang="en-IN" dirty="0"/>
          </a:p>
          <a:p>
            <a:r>
              <a:rPr lang="en-IN" b="1" dirty="0"/>
              <a:t>Waterfall </a:t>
            </a:r>
            <a:r>
              <a:rPr lang="en-IN" b="1" dirty="0" smtClean="0"/>
              <a:t>Methodology</a:t>
            </a:r>
          </a:p>
          <a:p>
            <a:r>
              <a:rPr lang="en-IN" b="1" dirty="0"/>
              <a:t>Agile </a:t>
            </a:r>
            <a:r>
              <a:rPr lang="en-IN" b="1" dirty="0" smtClean="0"/>
              <a:t>Methodology – Scrum, Kanban, XP, Lean</a:t>
            </a:r>
            <a:endParaRPr lang="en-IN" dirty="0"/>
          </a:p>
        </p:txBody>
      </p:sp>
      <p:pic>
        <p:nvPicPr>
          <p:cNvPr id="5" name="Picture 4" descr="A black and white logo&#10;&#10;AI-generated content may be incorrect.">
            <a:extLst>
              <a:ext uri="{FF2B5EF4-FFF2-40B4-BE49-F238E27FC236}">
                <a16:creationId xmlns="" xmlns:a16="http://schemas.microsoft.com/office/drawing/2014/main" id="{7D3EA213-6329-0184-9DD9-4F14FD29D1BA}"/>
              </a:ext>
            </a:extLst>
          </p:cNvPr>
          <p:cNvPicPr>
            <a:picLocks noChangeAspect="1"/>
          </p:cNvPicPr>
          <p:nvPr/>
        </p:nvPicPr>
        <p:blipFill>
          <a:blip r:embed="rId2"/>
          <a:stretch>
            <a:fillRect/>
          </a:stretch>
        </p:blipFill>
        <p:spPr>
          <a:xfrm>
            <a:off x="10661671" y="38166"/>
            <a:ext cx="1369645" cy="664793"/>
          </a:xfrm>
          <a:prstGeom prst="rect">
            <a:avLst/>
          </a:prstGeom>
        </p:spPr>
      </p:pic>
    </p:spTree>
    <p:extLst>
      <p:ext uri="{BB962C8B-B14F-4D97-AF65-F5344CB8AC3E}">
        <p14:creationId xmlns:p14="http://schemas.microsoft.com/office/powerpoint/2010/main" val="3684461151"/>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 xmlns:a16="http://schemas.microsoft.com/office/drawing/2014/main" id="{5222936C-95B8-0073-A638-A55495736D21}"/>
              </a:ext>
            </a:extLst>
          </p:cNvPr>
          <p:cNvSpPr>
            <a:spLocks noGrp="1"/>
          </p:cNvSpPr>
          <p:nvPr>
            <p:ph type="title"/>
          </p:nvPr>
        </p:nvSpPr>
        <p:spPr/>
        <p:txBody>
          <a:bodyPr/>
          <a:lstStyle/>
          <a:p>
            <a:pPr lvl="0"/>
            <a:r>
              <a:rPr lang="en-IN" dirty="0"/>
              <a:t>Agile Methodologies</a:t>
            </a:r>
            <a:endParaRPr lang="en-US" dirty="0"/>
          </a:p>
        </p:txBody>
      </p:sp>
      <p:sp>
        <p:nvSpPr>
          <p:cNvPr id="3" name="Content Placeholder 2">
            <a:extLst>
              <a:ext uri="{FF2B5EF4-FFF2-40B4-BE49-F238E27FC236}">
                <a16:creationId xmlns="" xmlns:a16="http://schemas.microsoft.com/office/drawing/2014/main" id="{09E7F86C-8ADF-DFC2-9388-B0DC309DF9D4}"/>
              </a:ext>
            </a:extLst>
          </p:cNvPr>
          <p:cNvSpPr>
            <a:spLocks noGrp="1"/>
          </p:cNvSpPr>
          <p:nvPr>
            <p:ph idx="1"/>
          </p:nvPr>
        </p:nvSpPr>
        <p:spPr>
          <a:xfrm>
            <a:off x="838200" y="1579966"/>
            <a:ext cx="10515600" cy="4351338"/>
          </a:xfrm>
        </p:spPr>
        <p:txBody>
          <a:bodyPr vert="horz" lIns="91440" tIns="45720" rIns="91440" bIns="45720" rtlCol="0" anchor="t">
            <a:normAutofit fontScale="62500" lnSpcReduction="20000"/>
          </a:bodyPr>
          <a:lstStyle/>
          <a:p>
            <a:pPr marL="0" indent="0">
              <a:buNone/>
            </a:pPr>
            <a:endParaRPr lang="en-IN" dirty="0" smtClean="0"/>
          </a:p>
          <a:p>
            <a:pPr marL="0" indent="0">
              <a:spcAft>
                <a:spcPts val="1200"/>
              </a:spcAft>
              <a:buNone/>
            </a:pPr>
            <a:r>
              <a:rPr lang="en-IN" sz="3400" dirty="0" smtClean="0"/>
              <a:t>Agile </a:t>
            </a:r>
            <a:r>
              <a:rPr lang="en-IN" sz="3400" dirty="0"/>
              <a:t>methodologies are a set of principles and practices for managing and executing projects in an iterative, collaborative, and customer-focused manner. Agile emphasizes flexibility, delivering value continuously, and adapting to changes quickly</a:t>
            </a:r>
            <a:r>
              <a:rPr lang="en-IN" sz="3400" dirty="0" smtClean="0"/>
              <a:t>.</a:t>
            </a:r>
          </a:p>
          <a:p>
            <a:pPr marL="0" indent="0">
              <a:buNone/>
            </a:pPr>
            <a:r>
              <a:rPr lang="en-US" sz="3400" dirty="0"/>
              <a:t>Agile methodologies are iterative and </a:t>
            </a:r>
            <a:r>
              <a:rPr lang="en-US" sz="3400" dirty="0" smtClean="0"/>
              <a:t>incremental. </a:t>
            </a:r>
            <a:r>
              <a:rPr lang="en-US" sz="3400" dirty="0"/>
              <a:t>They prioritize flexibility, collaboration, and customer satisfaction. Major companies like Facebook, Google, and Amazon utilize </a:t>
            </a:r>
            <a:r>
              <a:rPr lang="en-US" sz="3400" dirty="0" smtClean="0"/>
              <a:t>it for </a:t>
            </a:r>
            <a:r>
              <a:rPr lang="en-US" sz="3400" dirty="0"/>
              <a:t>its flexibility and customer-focused approach. </a:t>
            </a:r>
            <a:endParaRPr lang="en-IN" sz="3400" dirty="0" smtClean="0"/>
          </a:p>
          <a:p>
            <a:pPr marL="0" indent="0">
              <a:buNone/>
            </a:pPr>
            <a:r>
              <a:rPr lang="en-IN" dirty="0" smtClean="0"/>
              <a:t> </a:t>
            </a:r>
          </a:p>
          <a:p>
            <a:pPr marL="0" indent="0">
              <a:buNone/>
            </a:pPr>
            <a:r>
              <a:rPr lang="en-IN" dirty="0" smtClean="0"/>
              <a:t>Core </a:t>
            </a:r>
            <a:r>
              <a:rPr lang="en-IN" dirty="0"/>
              <a:t>Values of the Agile </a:t>
            </a:r>
            <a:r>
              <a:rPr lang="en-IN" dirty="0" smtClean="0"/>
              <a:t>Manifesto (2001)</a:t>
            </a:r>
            <a:endParaRPr lang="en-US" b="1" dirty="0"/>
          </a:p>
          <a:p>
            <a:pPr lvl="0"/>
            <a:r>
              <a:rPr lang="en-IN" b="1" dirty="0"/>
              <a:t>Individuals and Interactions over Processes and </a:t>
            </a:r>
            <a:r>
              <a:rPr lang="en-IN" b="1" dirty="0" smtClean="0"/>
              <a:t>Tools</a:t>
            </a:r>
          </a:p>
          <a:p>
            <a:pPr lvl="0"/>
            <a:r>
              <a:rPr lang="en-IN" b="1" dirty="0" smtClean="0"/>
              <a:t>Working </a:t>
            </a:r>
            <a:r>
              <a:rPr lang="en-IN" b="1" dirty="0"/>
              <a:t>Software over Comprehensive </a:t>
            </a:r>
            <a:r>
              <a:rPr lang="en-IN" b="1" dirty="0" smtClean="0"/>
              <a:t>Documentation</a:t>
            </a:r>
          </a:p>
          <a:p>
            <a:pPr lvl="0"/>
            <a:r>
              <a:rPr lang="en-IN" b="1" dirty="0" smtClean="0"/>
              <a:t>Customer </a:t>
            </a:r>
            <a:r>
              <a:rPr lang="en-IN" b="1" dirty="0"/>
              <a:t>Collaboration over Contract </a:t>
            </a:r>
            <a:r>
              <a:rPr lang="en-IN" b="1" dirty="0" smtClean="0"/>
              <a:t>Negotiation</a:t>
            </a:r>
            <a:endParaRPr lang="en-IN" dirty="0" smtClean="0"/>
          </a:p>
          <a:p>
            <a:pPr lvl="0"/>
            <a:r>
              <a:rPr lang="en-IN" b="1" dirty="0" smtClean="0"/>
              <a:t>Responding </a:t>
            </a:r>
            <a:r>
              <a:rPr lang="en-IN" b="1" dirty="0"/>
              <a:t>to Change over Following a </a:t>
            </a:r>
            <a:r>
              <a:rPr lang="en-IN" b="1" dirty="0" smtClean="0"/>
              <a:t>Plan</a:t>
            </a:r>
            <a:endParaRPr lang="en-IN" dirty="0"/>
          </a:p>
        </p:txBody>
      </p:sp>
      <p:pic>
        <p:nvPicPr>
          <p:cNvPr id="5" name="Picture 4" descr="A black and white logo&#10;&#10;AI-generated content may be incorrect.">
            <a:extLst>
              <a:ext uri="{FF2B5EF4-FFF2-40B4-BE49-F238E27FC236}">
                <a16:creationId xmlns="" xmlns:a16="http://schemas.microsoft.com/office/drawing/2014/main" id="{7D3EA213-6329-0184-9DD9-4F14FD29D1BA}"/>
              </a:ext>
            </a:extLst>
          </p:cNvPr>
          <p:cNvPicPr>
            <a:picLocks noChangeAspect="1"/>
          </p:cNvPicPr>
          <p:nvPr/>
        </p:nvPicPr>
        <p:blipFill>
          <a:blip r:embed="rId2"/>
          <a:stretch>
            <a:fillRect/>
          </a:stretch>
        </p:blipFill>
        <p:spPr>
          <a:xfrm>
            <a:off x="10661671" y="38166"/>
            <a:ext cx="1369645" cy="664793"/>
          </a:xfrm>
          <a:prstGeom prst="rect">
            <a:avLst/>
          </a:prstGeom>
        </p:spPr>
      </p:pic>
    </p:spTree>
    <p:extLst>
      <p:ext uri="{BB962C8B-B14F-4D97-AF65-F5344CB8AC3E}">
        <p14:creationId xmlns:p14="http://schemas.microsoft.com/office/powerpoint/2010/main" val="3787822456"/>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Agile Methodology</a:t>
            </a:r>
            <a:endParaRPr lang="en-US" dirty="0"/>
          </a:p>
        </p:txBody>
      </p:sp>
      <p:pic>
        <p:nvPicPr>
          <p:cNvPr id="4" name="Content Placeholder 3"/>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1351838" y="1569492"/>
            <a:ext cx="9202865" cy="4536471"/>
          </a:xfrm>
        </p:spPr>
      </p:pic>
    </p:spTree>
    <p:extLst>
      <p:ext uri="{BB962C8B-B14F-4D97-AF65-F5344CB8AC3E}">
        <p14:creationId xmlns:p14="http://schemas.microsoft.com/office/powerpoint/2010/main" val="331302092"/>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 xmlns:a16="http://schemas.microsoft.com/office/drawing/2014/main" id="{5222936C-95B8-0073-A638-A55495736D21}"/>
              </a:ext>
            </a:extLst>
          </p:cNvPr>
          <p:cNvSpPr>
            <a:spLocks noGrp="1"/>
          </p:cNvSpPr>
          <p:nvPr>
            <p:ph type="title"/>
          </p:nvPr>
        </p:nvSpPr>
        <p:spPr/>
        <p:txBody>
          <a:bodyPr/>
          <a:lstStyle/>
          <a:p>
            <a:r>
              <a:rPr lang="en-IN" dirty="0"/>
              <a:t>Agile Practices in Detail</a:t>
            </a:r>
            <a:endParaRPr lang="en-US" b="1" dirty="0"/>
          </a:p>
        </p:txBody>
      </p:sp>
      <p:sp>
        <p:nvSpPr>
          <p:cNvPr id="3" name="Content Placeholder 2">
            <a:extLst>
              <a:ext uri="{FF2B5EF4-FFF2-40B4-BE49-F238E27FC236}">
                <a16:creationId xmlns="" xmlns:a16="http://schemas.microsoft.com/office/drawing/2014/main" id="{09E7F86C-8ADF-DFC2-9388-B0DC309DF9D4}"/>
              </a:ext>
            </a:extLst>
          </p:cNvPr>
          <p:cNvSpPr>
            <a:spLocks noGrp="1"/>
          </p:cNvSpPr>
          <p:nvPr>
            <p:ph idx="1"/>
          </p:nvPr>
        </p:nvSpPr>
        <p:spPr/>
        <p:txBody>
          <a:bodyPr vert="horz" lIns="91440" tIns="45720" rIns="91440" bIns="45720" rtlCol="0" anchor="t">
            <a:normAutofit fontScale="85000" lnSpcReduction="10000"/>
          </a:bodyPr>
          <a:lstStyle/>
          <a:p>
            <a:pPr lvl="0"/>
            <a:r>
              <a:rPr lang="en-IN" b="1" dirty="0"/>
              <a:t>Backlog Management:</a:t>
            </a:r>
            <a:r>
              <a:rPr lang="en-IN" dirty="0"/>
              <a:t> The backlog is a prioritized list of tasks/features. Agile teams constantly refine the backlog to reflect the most valuable and current work.</a:t>
            </a:r>
            <a:endParaRPr lang="en-US" dirty="0"/>
          </a:p>
          <a:p>
            <a:pPr lvl="0"/>
            <a:r>
              <a:rPr lang="en-IN" b="1" dirty="0"/>
              <a:t>User Stories:</a:t>
            </a:r>
            <a:r>
              <a:rPr lang="en-IN" dirty="0"/>
              <a:t> Requirements are written from the user’s perspective, focusing on delivering value.</a:t>
            </a:r>
            <a:endParaRPr lang="en-US" dirty="0"/>
          </a:p>
          <a:p>
            <a:pPr lvl="1"/>
            <a:r>
              <a:rPr lang="en-IN" dirty="0"/>
              <a:t>Example: "As a user, </a:t>
            </a:r>
            <a:r>
              <a:rPr lang="en-IN" dirty="0" smtClean="0"/>
              <a:t>on clicking Next Button, it should take me to the next page."</a:t>
            </a:r>
            <a:endParaRPr lang="en-US" dirty="0"/>
          </a:p>
          <a:p>
            <a:pPr lvl="0"/>
            <a:r>
              <a:rPr lang="en-IN" b="1" dirty="0"/>
              <a:t>Continuous Integration/Continuous Delivery (CI/CD):</a:t>
            </a:r>
            <a:r>
              <a:rPr lang="en-IN" dirty="0"/>
              <a:t> Automates the process of integrating code changes and delivering them to production.</a:t>
            </a:r>
            <a:endParaRPr lang="en-US" dirty="0"/>
          </a:p>
          <a:p>
            <a:pPr lvl="0"/>
            <a:r>
              <a:rPr lang="en-IN" b="1" dirty="0"/>
              <a:t>Retrospectives:</a:t>
            </a:r>
            <a:r>
              <a:rPr lang="en-IN" dirty="0"/>
              <a:t> After each iteration, teams reflect on what went well and what can be improved.</a:t>
            </a:r>
            <a:endParaRPr lang="en-US" dirty="0"/>
          </a:p>
          <a:p>
            <a:r>
              <a:rPr lang="en-IN" b="1" dirty="0"/>
              <a:t>Burndown Charts:</a:t>
            </a:r>
            <a:r>
              <a:rPr lang="en-IN" dirty="0"/>
              <a:t> A visual tool showing remaining work versus time in a sprint</a:t>
            </a:r>
            <a:endParaRPr lang="en-IN" dirty="0" smtClean="0"/>
          </a:p>
        </p:txBody>
      </p:sp>
      <p:pic>
        <p:nvPicPr>
          <p:cNvPr id="5" name="Picture 4" descr="A black and white logo&#10;&#10;AI-generated content may be incorrect.">
            <a:extLst>
              <a:ext uri="{FF2B5EF4-FFF2-40B4-BE49-F238E27FC236}">
                <a16:creationId xmlns="" xmlns:a16="http://schemas.microsoft.com/office/drawing/2014/main" id="{7D3EA213-6329-0184-9DD9-4F14FD29D1BA}"/>
              </a:ext>
            </a:extLst>
          </p:cNvPr>
          <p:cNvPicPr>
            <a:picLocks noChangeAspect="1"/>
          </p:cNvPicPr>
          <p:nvPr/>
        </p:nvPicPr>
        <p:blipFill>
          <a:blip r:embed="rId2"/>
          <a:stretch>
            <a:fillRect/>
          </a:stretch>
        </p:blipFill>
        <p:spPr>
          <a:xfrm>
            <a:off x="10661671" y="38166"/>
            <a:ext cx="1369645" cy="664793"/>
          </a:xfrm>
          <a:prstGeom prst="rect">
            <a:avLst/>
          </a:prstGeom>
        </p:spPr>
      </p:pic>
    </p:spTree>
    <p:extLst>
      <p:ext uri="{BB962C8B-B14F-4D97-AF65-F5344CB8AC3E}">
        <p14:creationId xmlns:p14="http://schemas.microsoft.com/office/powerpoint/2010/main" val="2065176554"/>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 xmlns:a16="http://schemas.microsoft.com/office/drawing/2014/main" id="{5222936C-95B8-0073-A638-A55495736D21}"/>
              </a:ext>
            </a:extLst>
          </p:cNvPr>
          <p:cNvSpPr>
            <a:spLocks noGrp="1"/>
          </p:cNvSpPr>
          <p:nvPr>
            <p:ph type="title"/>
          </p:nvPr>
        </p:nvSpPr>
        <p:spPr/>
        <p:txBody>
          <a:bodyPr/>
          <a:lstStyle/>
          <a:p>
            <a:pPr lvl="0"/>
            <a:r>
              <a:rPr lang="en-IN" dirty="0"/>
              <a:t>Advantages of Agile</a:t>
            </a:r>
            <a:endParaRPr lang="en-US" dirty="0"/>
          </a:p>
        </p:txBody>
      </p:sp>
      <p:sp>
        <p:nvSpPr>
          <p:cNvPr id="3" name="Content Placeholder 2">
            <a:extLst>
              <a:ext uri="{FF2B5EF4-FFF2-40B4-BE49-F238E27FC236}">
                <a16:creationId xmlns="" xmlns:a16="http://schemas.microsoft.com/office/drawing/2014/main" id="{09E7F86C-8ADF-DFC2-9388-B0DC309DF9D4}"/>
              </a:ext>
            </a:extLst>
          </p:cNvPr>
          <p:cNvSpPr>
            <a:spLocks noGrp="1"/>
          </p:cNvSpPr>
          <p:nvPr>
            <p:ph idx="1"/>
          </p:nvPr>
        </p:nvSpPr>
        <p:spPr/>
        <p:txBody>
          <a:bodyPr vert="horz" lIns="91440" tIns="45720" rIns="91440" bIns="45720" rtlCol="0" anchor="t">
            <a:normAutofit lnSpcReduction="10000"/>
          </a:bodyPr>
          <a:lstStyle/>
          <a:p>
            <a:pPr lvl="0"/>
            <a:r>
              <a:rPr lang="en-IN" b="1" dirty="0"/>
              <a:t>Customer-Centric:</a:t>
            </a:r>
            <a:r>
              <a:rPr lang="en-IN" dirty="0"/>
              <a:t> Regular feedback ensures the product meets customer needs.</a:t>
            </a:r>
            <a:endParaRPr lang="en-US" dirty="0"/>
          </a:p>
          <a:p>
            <a:pPr lvl="0"/>
            <a:r>
              <a:rPr lang="en-IN" b="1" dirty="0"/>
              <a:t>Flexibility:</a:t>
            </a:r>
            <a:r>
              <a:rPr lang="en-IN" dirty="0"/>
              <a:t> Teams can adapt to changing requirements at any stage.</a:t>
            </a:r>
            <a:endParaRPr lang="en-US" dirty="0"/>
          </a:p>
          <a:p>
            <a:pPr lvl="0"/>
            <a:r>
              <a:rPr lang="en-IN" b="1" dirty="0"/>
              <a:t>Faster Time-to-Market:</a:t>
            </a:r>
            <a:r>
              <a:rPr lang="en-IN" dirty="0"/>
              <a:t> Incremental delivery allows for faster releases.</a:t>
            </a:r>
            <a:endParaRPr lang="en-US" dirty="0"/>
          </a:p>
          <a:p>
            <a:pPr lvl="0"/>
            <a:r>
              <a:rPr lang="en-IN" b="1" dirty="0"/>
              <a:t>Improved Quality:</a:t>
            </a:r>
            <a:r>
              <a:rPr lang="en-IN" dirty="0"/>
              <a:t> Continuous testing and collaboration enhance product quality.</a:t>
            </a:r>
            <a:endParaRPr lang="en-US" dirty="0"/>
          </a:p>
          <a:p>
            <a:pPr lvl="0"/>
            <a:r>
              <a:rPr lang="en-IN" b="1" dirty="0"/>
              <a:t>Team Collaboration:</a:t>
            </a:r>
            <a:r>
              <a:rPr lang="en-IN" dirty="0"/>
              <a:t> Agile fosters a culture of teamwork and communication</a:t>
            </a:r>
            <a:r>
              <a:rPr lang="en-IN" dirty="0" smtClean="0"/>
              <a:t>.</a:t>
            </a:r>
            <a:endParaRPr lang="en-US" dirty="0"/>
          </a:p>
        </p:txBody>
      </p:sp>
      <p:pic>
        <p:nvPicPr>
          <p:cNvPr id="5" name="Picture 4" descr="A black and white logo&#10;&#10;AI-generated content may be incorrect.">
            <a:extLst>
              <a:ext uri="{FF2B5EF4-FFF2-40B4-BE49-F238E27FC236}">
                <a16:creationId xmlns="" xmlns:a16="http://schemas.microsoft.com/office/drawing/2014/main" id="{7D3EA213-6329-0184-9DD9-4F14FD29D1BA}"/>
              </a:ext>
            </a:extLst>
          </p:cNvPr>
          <p:cNvPicPr>
            <a:picLocks noChangeAspect="1"/>
          </p:cNvPicPr>
          <p:nvPr/>
        </p:nvPicPr>
        <p:blipFill>
          <a:blip r:embed="rId2"/>
          <a:stretch>
            <a:fillRect/>
          </a:stretch>
        </p:blipFill>
        <p:spPr>
          <a:xfrm>
            <a:off x="10661671" y="38166"/>
            <a:ext cx="1369645" cy="664793"/>
          </a:xfrm>
          <a:prstGeom prst="rect">
            <a:avLst/>
          </a:prstGeom>
        </p:spPr>
      </p:pic>
    </p:spTree>
    <p:extLst>
      <p:ext uri="{BB962C8B-B14F-4D97-AF65-F5344CB8AC3E}">
        <p14:creationId xmlns:p14="http://schemas.microsoft.com/office/powerpoint/2010/main" val="853284570"/>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 xmlns:a16="http://schemas.microsoft.com/office/drawing/2014/main" id="{5222936C-95B8-0073-A638-A55495736D21}"/>
              </a:ext>
            </a:extLst>
          </p:cNvPr>
          <p:cNvSpPr>
            <a:spLocks noGrp="1"/>
          </p:cNvSpPr>
          <p:nvPr>
            <p:ph type="title"/>
          </p:nvPr>
        </p:nvSpPr>
        <p:spPr/>
        <p:txBody>
          <a:bodyPr/>
          <a:lstStyle/>
          <a:p>
            <a:pPr lvl="0"/>
            <a:r>
              <a:rPr lang="en-IN" dirty="0"/>
              <a:t>Challenges of Agile</a:t>
            </a:r>
            <a:endParaRPr lang="en-US" dirty="0"/>
          </a:p>
        </p:txBody>
      </p:sp>
      <p:sp>
        <p:nvSpPr>
          <p:cNvPr id="3" name="Content Placeholder 2">
            <a:extLst>
              <a:ext uri="{FF2B5EF4-FFF2-40B4-BE49-F238E27FC236}">
                <a16:creationId xmlns="" xmlns:a16="http://schemas.microsoft.com/office/drawing/2014/main" id="{09E7F86C-8ADF-DFC2-9388-B0DC309DF9D4}"/>
              </a:ext>
            </a:extLst>
          </p:cNvPr>
          <p:cNvSpPr>
            <a:spLocks noGrp="1"/>
          </p:cNvSpPr>
          <p:nvPr>
            <p:ph idx="1"/>
          </p:nvPr>
        </p:nvSpPr>
        <p:spPr/>
        <p:txBody>
          <a:bodyPr vert="horz" lIns="91440" tIns="45720" rIns="91440" bIns="45720" rtlCol="0" anchor="t">
            <a:normAutofit/>
          </a:bodyPr>
          <a:lstStyle/>
          <a:p>
            <a:pPr lvl="0"/>
            <a:r>
              <a:rPr lang="en-IN" b="1" dirty="0"/>
              <a:t>Scope Creep:</a:t>
            </a:r>
            <a:r>
              <a:rPr lang="en-IN" dirty="0"/>
              <a:t> Frequent changes can lead to uncontrolled scope growth.</a:t>
            </a:r>
            <a:endParaRPr lang="en-US" dirty="0"/>
          </a:p>
          <a:p>
            <a:pPr lvl="0"/>
            <a:r>
              <a:rPr lang="en-IN" b="1" dirty="0"/>
              <a:t>Requires Experienced Teams:</a:t>
            </a:r>
            <a:r>
              <a:rPr lang="en-IN" dirty="0"/>
              <a:t> Teams must be skilled in Agile practices for successful implementation.</a:t>
            </a:r>
            <a:endParaRPr lang="en-US" dirty="0"/>
          </a:p>
          <a:p>
            <a:pPr lvl="0"/>
            <a:r>
              <a:rPr lang="en-IN" b="1" dirty="0"/>
              <a:t>Difficult to Scale:</a:t>
            </a:r>
            <a:r>
              <a:rPr lang="en-IN" dirty="0"/>
              <a:t> Scaling Agile for large organizations or complex projects can be challenging.</a:t>
            </a:r>
            <a:endParaRPr lang="en-US" dirty="0"/>
          </a:p>
          <a:p>
            <a:pPr lvl="0"/>
            <a:r>
              <a:rPr lang="en-IN" b="1" dirty="0"/>
              <a:t>Stakeholder Involvement:</a:t>
            </a:r>
            <a:r>
              <a:rPr lang="en-IN" dirty="0"/>
              <a:t> Requires consistent input and engagement from stakeholders</a:t>
            </a:r>
            <a:r>
              <a:rPr lang="en-IN" dirty="0" smtClean="0"/>
              <a:t>.</a:t>
            </a:r>
            <a:endParaRPr lang="en-US" dirty="0"/>
          </a:p>
        </p:txBody>
      </p:sp>
      <p:pic>
        <p:nvPicPr>
          <p:cNvPr id="5" name="Picture 4" descr="A black and white logo&#10;&#10;AI-generated content may be incorrect.">
            <a:extLst>
              <a:ext uri="{FF2B5EF4-FFF2-40B4-BE49-F238E27FC236}">
                <a16:creationId xmlns="" xmlns:a16="http://schemas.microsoft.com/office/drawing/2014/main" id="{7D3EA213-6329-0184-9DD9-4F14FD29D1BA}"/>
              </a:ext>
            </a:extLst>
          </p:cNvPr>
          <p:cNvPicPr>
            <a:picLocks noChangeAspect="1"/>
          </p:cNvPicPr>
          <p:nvPr/>
        </p:nvPicPr>
        <p:blipFill>
          <a:blip r:embed="rId2"/>
          <a:stretch>
            <a:fillRect/>
          </a:stretch>
        </p:blipFill>
        <p:spPr>
          <a:xfrm>
            <a:off x="10661671" y="38166"/>
            <a:ext cx="1369645" cy="664793"/>
          </a:xfrm>
          <a:prstGeom prst="rect">
            <a:avLst/>
          </a:prstGeom>
        </p:spPr>
      </p:pic>
    </p:spTree>
    <p:extLst>
      <p:ext uri="{BB962C8B-B14F-4D97-AF65-F5344CB8AC3E}">
        <p14:creationId xmlns:p14="http://schemas.microsoft.com/office/powerpoint/2010/main" val="605094236"/>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 xmlns:a16="http://schemas.microsoft.com/office/drawing/2014/main" id="{5222936C-95B8-0073-A638-A55495736D21}"/>
              </a:ext>
            </a:extLst>
          </p:cNvPr>
          <p:cNvSpPr>
            <a:spLocks noGrp="1"/>
          </p:cNvSpPr>
          <p:nvPr>
            <p:ph type="title"/>
          </p:nvPr>
        </p:nvSpPr>
        <p:spPr/>
        <p:txBody>
          <a:bodyPr/>
          <a:lstStyle/>
          <a:p>
            <a:pPr lvl="0"/>
            <a:r>
              <a:rPr lang="en-IN" dirty="0"/>
              <a:t>Real-World Agile Examples</a:t>
            </a:r>
            <a:endParaRPr lang="en-US" dirty="0"/>
          </a:p>
        </p:txBody>
      </p:sp>
      <p:sp>
        <p:nvSpPr>
          <p:cNvPr id="3" name="Content Placeholder 2">
            <a:extLst>
              <a:ext uri="{FF2B5EF4-FFF2-40B4-BE49-F238E27FC236}">
                <a16:creationId xmlns="" xmlns:a16="http://schemas.microsoft.com/office/drawing/2014/main" id="{09E7F86C-8ADF-DFC2-9388-B0DC309DF9D4}"/>
              </a:ext>
            </a:extLst>
          </p:cNvPr>
          <p:cNvSpPr>
            <a:spLocks noGrp="1"/>
          </p:cNvSpPr>
          <p:nvPr>
            <p:ph idx="1"/>
          </p:nvPr>
        </p:nvSpPr>
        <p:spPr/>
        <p:txBody>
          <a:bodyPr vert="horz" lIns="91440" tIns="45720" rIns="91440" bIns="45720" rtlCol="0" anchor="t">
            <a:normAutofit fontScale="92500" lnSpcReduction="10000"/>
          </a:bodyPr>
          <a:lstStyle/>
          <a:p>
            <a:pPr lvl="0"/>
            <a:r>
              <a:rPr lang="en-IN" b="1" dirty="0"/>
              <a:t>Spotify:</a:t>
            </a:r>
            <a:r>
              <a:rPr lang="en-IN" dirty="0"/>
              <a:t> Spotify organizes teams into "squads" (small Agile teams), "tribes" (related squads), and "guilds" (cross-functional groups).</a:t>
            </a:r>
            <a:endParaRPr lang="en-US" dirty="0"/>
          </a:p>
          <a:p>
            <a:pPr lvl="0"/>
            <a:r>
              <a:rPr lang="en-IN" b="1" dirty="0"/>
              <a:t>Amazon:</a:t>
            </a:r>
            <a:r>
              <a:rPr lang="en-IN" dirty="0"/>
              <a:t> Amazon uses Agile to continuously innovate and deliver updates, such as one-click purchasing or AI-driven recommendations.</a:t>
            </a:r>
            <a:endParaRPr lang="en-US" dirty="0"/>
          </a:p>
          <a:p>
            <a:pPr lvl="0"/>
            <a:r>
              <a:rPr lang="en-IN" b="1" dirty="0"/>
              <a:t>Google:</a:t>
            </a:r>
            <a:r>
              <a:rPr lang="en-IN" dirty="0"/>
              <a:t> Google’s iterative updates to products like Gmail and Google Maps reflect Agile principles, focusing on user feedback and rapid development cycles.</a:t>
            </a:r>
            <a:endParaRPr lang="en-US" dirty="0"/>
          </a:p>
          <a:p>
            <a:pPr lvl="0"/>
            <a:r>
              <a:rPr lang="en-IN" b="1" dirty="0"/>
              <a:t>Netflix:</a:t>
            </a:r>
            <a:r>
              <a:rPr lang="en-IN" dirty="0"/>
              <a:t> Netflix employs Agile to optimize its recommendation engine, using real-time data and A/B testing to improve the customer experience.</a:t>
            </a:r>
            <a:endParaRPr lang="en-US" dirty="0"/>
          </a:p>
          <a:p>
            <a:endParaRPr lang="en-IN" dirty="0"/>
          </a:p>
        </p:txBody>
      </p:sp>
      <p:pic>
        <p:nvPicPr>
          <p:cNvPr id="5" name="Picture 4" descr="A black and white logo&#10;&#10;AI-generated content may be incorrect.">
            <a:extLst>
              <a:ext uri="{FF2B5EF4-FFF2-40B4-BE49-F238E27FC236}">
                <a16:creationId xmlns="" xmlns:a16="http://schemas.microsoft.com/office/drawing/2014/main" id="{7D3EA213-6329-0184-9DD9-4F14FD29D1BA}"/>
              </a:ext>
            </a:extLst>
          </p:cNvPr>
          <p:cNvPicPr>
            <a:picLocks noChangeAspect="1"/>
          </p:cNvPicPr>
          <p:nvPr/>
        </p:nvPicPr>
        <p:blipFill>
          <a:blip r:embed="rId2"/>
          <a:stretch>
            <a:fillRect/>
          </a:stretch>
        </p:blipFill>
        <p:spPr>
          <a:xfrm>
            <a:off x="10661671" y="38166"/>
            <a:ext cx="1369645" cy="664793"/>
          </a:xfrm>
          <a:prstGeom prst="rect">
            <a:avLst/>
          </a:prstGeom>
        </p:spPr>
      </p:pic>
    </p:spTree>
    <p:extLst>
      <p:ext uri="{BB962C8B-B14F-4D97-AF65-F5344CB8AC3E}">
        <p14:creationId xmlns:p14="http://schemas.microsoft.com/office/powerpoint/2010/main" val="3723508483"/>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 xmlns:a16="http://schemas.microsoft.com/office/drawing/2014/main" id="{5222936C-95B8-0073-A638-A55495736D21}"/>
              </a:ext>
            </a:extLst>
          </p:cNvPr>
          <p:cNvSpPr>
            <a:spLocks noGrp="1"/>
          </p:cNvSpPr>
          <p:nvPr>
            <p:ph type="title"/>
          </p:nvPr>
        </p:nvSpPr>
        <p:spPr/>
        <p:txBody>
          <a:bodyPr/>
          <a:lstStyle/>
          <a:p>
            <a:pPr lvl="0"/>
            <a:r>
              <a:rPr lang="en-IN" dirty="0" smtClean="0"/>
              <a:t>Scrum Definition</a:t>
            </a:r>
            <a:endParaRPr lang="en-US" dirty="0"/>
          </a:p>
        </p:txBody>
      </p:sp>
      <p:sp>
        <p:nvSpPr>
          <p:cNvPr id="3" name="Content Placeholder 2">
            <a:extLst>
              <a:ext uri="{FF2B5EF4-FFF2-40B4-BE49-F238E27FC236}">
                <a16:creationId xmlns="" xmlns:a16="http://schemas.microsoft.com/office/drawing/2014/main" id="{09E7F86C-8ADF-DFC2-9388-B0DC309DF9D4}"/>
              </a:ext>
            </a:extLst>
          </p:cNvPr>
          <p:cNvSpPr>
            <a:spLocks noGrp="1"/>
          </p:cNvSpPr>
          <p:nvPr>
            <p:ph idx="1"/>
          </p:nvPr>
        </p:nvSpPr>
        <p:spPr/>
        <p:txBody>
          <a:bodyPr vert="horz" lIns="91440" tIns="45720" rIns="91440" bIns="45720" rtlCol="0" anchor="t">
            <a:normAutofit lnSpcReduction="10000"/>
          </a:bodyPr>
          <a:lstStyle/>
          <a:p>
            <a:r>
              <a:rPr lang="en-IN" dirty="0"/>
              <a:t>Scrum is an </a:t>
            </a:r>
            <a:r>
              <a:rPr lang="en-IN" b="1" dirty="0"/>
              <a:t>Agile framework</a:t>
            </a:r>
            <a:r>
              <a:rPr lang="en-IN" dirty="0"/>
              <a:t> used for managing complex projects, primarily in </a:t>
            </a:r>
            <a:r>
              <a:rPr lang="en-IN" b="1" dirty="0"/>
              <a:t>software development</a:t>
            </a:r>
            <a:r>
              <a:rPr lang="en-IN" dirty="0"/>
              <a:t>, though it is applicable to other industries. It emphasizes </a:t>
            </a:r>
            <a:r>
              <a:rPr lang="en-IN" b="1" dirty="0"/>
              <a:t>iterative progress, collaboration, adaptability, and continuous improvement</a:t>
            </a:r>
            <a:r>
              <a:rPr lang="en-IN" dirty="0"/>
              <a:t> through well-defined roles, events, and </a:t>
            </a:r>
            <a:r>
              <a:rPr lang="en-IN" dirty="0" err="1"/>
              <a:t>artifacts</a:t>
            </a:r>
            <a:r>
              <a:rPr lang="en-IN" dirty="0"/>
              <a:t>.</a:t>
            </a:r>
            <a:endParaRPr lang="en-US" dirty="0"/>
          </a:p>
          <a:p>
            <a:pPr lvl="0"/>
            <a:r>
              <a:rPr lang="en-IN" b="1" dirty="0"/>
              <a:t>Scrum Team Roles:</a:t>
            </a:r>
            <a:endParaRPr lang="en-US" dirty="0"/>
          </a:p>
          <a:p>
            <a:pPr lvl="1"/>
            <a:r>
              <a:rPr lang="en-IN" b="1" dirty="0"/>
              <a:t>Product Owner:</a:t>
            </a:r>
            <a:r>
              <a:rPr lang="en-IN" dirty="0"/>
              <a:t> Defines the product vision, prioritizes the backlog, and represents the stakeholders.</a:t>
            </a:r>
            <a:endParaRPr lang="en-US" dirty="0"/>
          </a:p>
          <a:p>
            <a:pPr lvl="1"/>
            <a:r>
              <a:rPr lang="en-IN" b="1" dirty="0"/>
              <a:t>Scrum Master:</a:t>
            </a:r>
            <a:r>
              <a:rPr lang="en-IN" dirty="0"/>
              <a:t> Facilitates the process, removes obstacles, and ensures adherence to Scrum principles.</a:t>
            </a:r>
            <a:endParaRPr lang="en-US" dirty="0"/>
          </a:p>
          <a:p>
            <a:pPr lvl="1"/>
            <a:r>
              <a:rPr lang="en-IN" b="1" dirty="0"/>
              <a:t>Development Team:</a:t>
            </a:r>
            <a:r>
              <a:rPr lang="en-IN" dirty="0"/>
              <a:t> Cross-functional team responsible for delivering increments of the product.</a:t>
            </a:r>
            <a:endParaRPr lang="en-US" dirty="0"/>
          </a:p>
        </p:txBody>
      </p:sp>
      <p:pic>
        <p:nvPicPr>
          <p:cNvPr id="5" name="Picture 4" descr="A black and white logo&#10;&#10;AI-generated content may be incorrect.">
            <a:extLst>
              <a:ext uri="{FF2B5EF4-FFF2-40B4-BE49-F238E27FC236}">
                <a16:creationId xmlns="" xmlns:a16="http://schemas.microsoft.com/office/drawing/2014/main" id="{7D3EA213-6329-0184-9DD9-4F14FD29D1BA}"/>
              </a:ext>
            </a:extLst>
          </p:cNvPr>
          <p:cNvPicPr>
            <a:picLocks noChangeAspect="1"/>
          </p:cNvPicPr>
          <p:nvPr/>
        </p:nvPicPr>
        <p:blipFill>
          <a:blip r:embed="rId2"/>
          <a:stretch>
            <a:fillRect/>
          </a:stretch>
        </p:blipFill>
        <p:spPr>
          <a:xfrm>
            <a:off x="10661671" y="38166"/>
            <a:ext cx="1369645" cy="664793"/>
          </a:xfrm>
          <a:prstGeom prst="rect">
            <a:avLst/>
          </a:prstGeom>
        </p:spPr>
      </p:pic>
    </p:spTree>
    <p:extLst>
      <p:ext uri="{BB962C8B-B14F-4D97-AF65-F5344CB8AC3E}">
        <p14:creationId xmlns:p14="http://schemas.microsoft.com/office/powerpoint/2010/main" val="3508048152"/>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 xmlns:a16="http://schemas.microsoft.com/office/drawing/2014/main" id="{5222936C-95B8-0073-A638-A55495736D21}"/>
              </a:ext>
            </a:extLst>
          </p:cNvPr>
          <p:cNvSpPr>
            <a:spLocks noGrp="1"/>
          </p:cNvSpPr>
          <p:nvPr>
            <p:ph type="title"/>
          </p:nvPr>
        </p:nvSpPr>
        <p:spPr/>
        <p:txBody>
          <a:bodyPr/>
          <a:lstStyle/>
          <a:p>
            <a:pPr lvl="0"/>
            <a:r>
              <a:rPr lang="en-IN" dirty="0" smtClean="0"/>
              <a:t>Scrum </a:t>
            </a:r>
            <a:r>
              <a:rPr lang="en-IN" dirty="0" err="1" smtClean="0"/>
              <a:t>Artifacts</a:t>
            </a:r>
            <a:endParaRPr lang="en-US" dirty="0"/>
          </a:p>
        </p:txBody>
      </p:sp>
      <p:sp>
        <p:nvSpPr>
          <p:cNvPr id="3" name="Content Placeholder 2">
            <a:extLst>
              <a:ext uri="{FF2B5EF4-FFF2-40B4-BE49-F238E27FC236}">
                <a16:creationId xmlns="" xmlns:a16="http://schemas.microsoft.com/office/drawing/2014/main" id="{09E7F86C-8ADF-DFC2-9388-B0DC309DF9D4}"/>
              </a:ext>
            </a:extLst>
          </p:cNvPr>
          <p:cNvSpPr>
            <a:spLocks noGrp="1"/>
          </p:cNvSpPr>
          <p:nvPr>
            <p:ph idx="1"/>
          </p:nvPr>
        </p:nvSpPr>
        <p:spPr/>
        <p:txBody>
          <a:bodyPr vert="horz" lIns="91440" tIns="45720" rIns="91440" bIns="45720" rtlCol="0" anchor="t">
            <a:normAutofit/>
          </a:bodyPr>
          <a:lstStyle/>
          <a:p>
            <a:pPr lvl="0"/>
            <a:r>
              <a:rPr lang="en-IN" b="1" dirty="0"/>
              <a:t>Scrum </a:t>
            </a:r>
            <a:r>
              <a:rPr lang="en-IN" b="1" dirty="0" err="1"/>
              <a:t>Artifacts</a:t>
            </a:r>
            <a:r>
              <a:rPr lang="en-IN" b="1" dirty="0"/>
              <a:t>:</a:t>
            </a:r>
            <a:endParaRPr lang="en-US" dirty="0"/>
          </a:p>
          <a:p>
            <a:pPr lvl="1"/>
            <a:r>
              <a:rPr lang="en-IN" b="1" dirty="0" smtClean="0"/>
              <a:t>User Stories: </a:t>
            </a:r>
            <a:r>
              <a:rPr lang="en-IN" dirty="0" smtClean="0"/>
              <a:t>Requirements</a:t>
            </a:r>
            <a:r>
              <a:rPr lang="en-IN" b="1" dirty="0" smtClean="0"/>
              <a:t> </a:t>
            </a:r>
            <a:r>
              <a:rPr lang="en-IN" dirty="0" smtClean="0"/>
              <a:t>provided by the Business </a:t>
            </a:r>
            <a:r>
              <a:rPr lang="en-IN" dirty="0" smtClean="0"/>
              <a:t>Team based on discussions with the user.</a:t>
            </a:r>
            <a:endParaRPr lang="en-IN" dirty="0" smtClean="0"/>
          </a:p>
          <a:p>
            <a:pPr lvl="1"/>
            <a:r>
              <a:rPr lang="en-IN" b="1" dirty="0" smtClean="0"/>
              <a:t>Product </a:t>
            </a:r>
            <a:r>
              <a:rPr lang="en-IN" b="1" dirty="0"/>
              <a:t>Backlog:</a:t>
            </a:r>
            <a:r>
              <a:rPr lang="en-IN" dirty="0"/>
              <a:t> A prioritized list of work items (features, fixes, tasks) managed by the Product Owner.</a:t>
            </a:r>
            <a:endParaRPr lang="en-US" dirty="0"/>
          </a:p>
          <a:p>
            <a:pPr lvl="1"/>
            <a:r>
              <a:rPr lang="en-IN" b="1" dirty="0"/>
              <a:t>Sprint Backlog:</a:t>
            </a:r>
            <a:r>
              <a:rPr lang="en-IN" dirty="0"/>
              <a:t> The selected tasks from the Product Backlog for the current sprint.</a:t>
            </a:r>
            <a:endParaRPr lang="en-US" dirty="0"/>
          </a:p>
          <a:p>
            <a:pPr lvl="1"/>
            <a:r>
              <a:rPr lang="en-IN" b="1" dirty="0"/>
              <a:t>Increment:</a:t>
            </a:r>
            <a:r>
              <a:rPr lang="en-IN" dirty="0"/>
              <a:t> The completed work that meets the </a:t>
            </a:r>
            <a:r>
              <a:rPr lang="en-IN" b="1" dirty="0"/>
              <a:t>Definition of Done (DoD)</a:t>
            </a:r>
            <a:r>
              <a:rPr lang="en-IN" dirty="0"/>
              <a:t> and is potentially shippable.</a:t>
            </a:r>
            <a:endParaRPr lang="en-US" dirty="0"/>
          </a:p>
        </p:txBody>
      </p:sp>
      <p:pic>
        <p:nvPicPr>
          <p:cNvPr id="5" name="Picture 4" descr="A black and white logo&#10;&#10;AI-generated content may be incorrect.">
            <a:extLst>
              <a:ext uri="{FF2B5EF4-FFF2-40B4-BE49-F238E27FC236}">
                <a16:creationId xmlns="" xmlns:a16="http://schemas.microsoft.com/office/drawing/2014/main" id="{7D3EA213-6329-0184-9DD9-4F14FD29D1BA}"/>
              </a:ext>
            </a:extLst>
          </p:cNvPr>
          <p:cNvPicPr>
            <a:picLocks noChangeAspect="1"/>
          </p:cNvPicPr>
          <p:nvPr/>
        </p:nvPicPr>
        <p:blipFill>
          <a:blip r:embed="rId2"/>
          <a:stretch>
            <a:fillRect/>
          </a:stretch>
        </p:blipFill>
        <p:spPr>
          <a:xfrm>
            <a:off x="10661671" y="38166"/>
            <a:ext cx="1369645" cy="664793"/>
          </a:xfrm>
          <a:prstGeom prst="rect">
            <a:avLst/>
          </a:prstGeom>
        </p:spPr>
      </p:pic>
    </p:spTree>
    <p:extLst>
      <p:ext uri="{BB962C8B-B14F-4D97-AF65-F5344CB8AC3E}">
        <p14:creationId xmlns:p14="http://schemas.microsoft.com/office/powerpoint/2010/main" val="788842017"/>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 xmlns:a16="http://schemas.microsoft.com/office/drawing/2014/main" id="{5222936C-95B8-0073-A638-A55495736D21}"/>
              </a:ext>
            </a:extLst>
          </p:cNvPr>
          <p:cNvSpPr>
            <a:spLocks noGrp="1"/>
          </p:cNvSpPr>
          <p:nvPr>
            <p:ph type="title"/>
          </p:nvPr>
        </p:nvSpPr>
        <p:spPr/>
        <p:txBody>
          <a:bodyPr/>
          <a:lstStyle/>
          <a:p>
            <a:pPr lvl="0"/>
            <a:r>
              <a:rPr lang="en-IN" dirty="0" smtClean="0"/>
              <a:t>Scrum Ceremonies</a:t>
            </a:r>
            <a:endParaRPr lang="en-US" dirty="0"/>
          </a:p>
        </p:txBody>
      </p:sp>
      <p:sp>
        <p:nvSpPr>
          <p:cNvPr id="3" name="Content Placeholder 2">
            <a:extLst>
              <a:ext uri="{FF2B5EF4-FFF2-40B4-BE49-F238E27FC236}">
                <a16:creationId xmlns="" xmlns:a16="http://schemas.microsoft.com/office/drawing/2014/main" id="{09E7F86C-8ADF-DFC2-9388-B0DC309DF9D4}"/>
              </a:ext>
            </a:extLst>
          </p:cNvPr>
          <p:cNvSpPr>
            <a:spLocks noGrp="1"/>
          </p:cNvSpPr>
          <p:nvPr>
            <p:ph idx="1"/>
          </p:nvPr>
        </p:nvSpPr>
        <p:spPr/>
        <p:txBody>
          <a:bodyPr vert="horz" lIns="91440" tIns="45720" rIns="91440" bIns="45720" rtlCol="0" anchor="t">
            <a:normAutofit/>
          </a:bodyPr>
          <a:lstStyle/>
          <a:p>
            <a:pPr lvl="0"/>
            <a:r>
              <a:rPr lang="en-IN" b="1" dirty="0"/>
              <a:t>Scrum Events (Ceremonies):</a:t>
            </a:r>
            <a:endParaRPr lang="en-US" dirty="0"/>
          </a:p>
          <a:p>
            <a:pPr lvl="1"/>
            <a:r>
              <a:rPr lang="en-IN" b="1" dirty="0"/>
              <a:t>Sprint:</a:t>
            </a:r>
            <a:r>
              <a:rPr lang="en-IN" dirty="0"/>
              <a:t> A time-boxed iteration (usually 1–4 weeks) where work is completed.</a:t>
            </a:r>
            <a:endParaRPr lang="en-US" dirty="0"/>
          </a:p>
          <a:p>
            <a:pPr lvl="1"/>
            <a:r>
              <a:rPr lang="en-IN" b="1" dirty="0"/>
              <a:t>Sprint Planning:</a:t>
            </a:r>
            <a:r>
              <a:rPr lang="en-IN" dirty="0"/>
              <a:t> Meeting where the team selects backlog </a:t>
            </a:r>
            <a:r>
              <a:rPr lang="en-IN" dirty="0" smtClean="0"/>
              <a:t>items or user stories </a:t>
            </a:r>
            <a:r>
              <a:rPr lang="en-IN" dirty="0"/>
              <a:t>to work on during the sprint.</a:t>
            </a:r>
            <a:endParaRPr lang="en-US" dirty="0"/>
          </a:p>
          <a:p>
            <a:pPr lvl="1"/>
            <a:r>
              <a:rPr lang="en-IN" b="1" dirty="0"/>
              <a:t>Daily Scrum (Stand-up):</a:t>
            </a:r>
            <a:r>
              <a:rPr lang="en-IN" dirty="0"/>
              <a:t> A 15-minute daily meeting to discuss progress and obstacles.</a:t>
            </a:r>
            <a:endParaRPr lang="en-US" dirty="0"/>
          </a:p>
          <a:p>
            <a:pPr lvl="1"/>
            <a:r>
              <a:rPr lang="en-IN" b="1" dirty="0"/>
              <a:t>Sprint Review:</a:t>
            </a:r>
            <a:r>
              <a:rPr lang="en-IN" dirty="0"/>
              <a:t> A demonstration of completed work to stakeholders at the end of the sprint.</a:t>
            </a:r>
            <a:endParaRPr lang="en-US" dirty="0"/>
          </a:p>
          <a:p>
            <a:pPr lvl="1"/>
            <a:r>
              <a:rPr lang="en-IN" b="1" dirty="0"/>
              <a:t>Sprint Retrospective:</a:t>
            </a:r>
            <a:r>
              <a:rPr lang="en-IN" dirty="0"/>
              <a:t> A meeting to reflect on the sprint and identify areas for improvement.</a:t>
            </a:r>
            <a:endParaRPr lang="en-US" dirty="0"/>
          </a:p>
        </p:txBody>
      </p:sp>
      <p:pic>
        <p:nvPicPr>
          <p:cNvPr id="5" name="Picture 4" descr="A black and white logo&#10;&#10;AI-generated content may be incorrect.">
            <a:extLst>
              <a:ext uri="{FF2B5EF4-FFF2-40B4-BE49-F238E27FC236}">
                <a16:creationId xmlns="" xmlns:a16="http://schemas.microsoft.com/office/drawing/2014/main" id="{7D3EA213-6329-0184-9DD9-4F14FD29D1BA}"/>
              </a:ext>
            </a:extLst>
          </p:cNvPr>
          <p:cNvPicPr>
            <a:picLocks noChangeAspect="1"/>
          </p:cNvPicPr>
          <p:nvPr/>
        </p:nvPicPr>
        <p:blipFill>
          <a:blip r:embed="rId2"/>
          <a:stretch>
            <a:fillRect/>
          </a:stretch>
        </p:blipFill>
        <p:spPr>
          <a:xfrm>
            <a:off x="10661671" y="38166"/>
            <a:ext cx="1369645" cy="664793"/>
          </a:xfrm>
          <a:prstGeom prst="rect">
            <a:avLst/>
          </a:prstGeom>
        </p:spPr>
      </p:pic>
    </p:spTree>
    <p:extLst>
      <p:ext uri="{BB962C8B-B14F-4D97-AF65-F5344CB8AC3E}">
        <p14:creationId xmlns:p14="http://schemas.microsoft.com/office/powerpoint/2010/main" val="118966392"/>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 xmlns:a16="http://schemas.microsoft.com/office/drawing/2014/main" id="{5222936C-95B8-0073-A638-A55495736D21}"/>
              </a:ext>
            </a:extLst>
          </p:cNvPr>
          <p:cNvSpPr>
            <a:spLocks noGrp="1"/>
          </p:cNvSpPr>
          <p:nvPr>
            <p:ph type="title"/>
          </p:nvPr>
        </p:nvSpPr>
        <p:spPr/>
        <p:txBody>
          <a:bodyPr/>
          <a:lstStyle/>
          <a:p>
            <a:pPr lvl="0"/>
            <a:r>
              <a:rPr lang="en-IN" dirty="0"/>
              <a:t>Scrum Sprint Planning</a:t>
            </a:r>
            <a:endParaRPr lang="en-US" dirty="0"/>
          </a:p>
        </p:txBody>
      </p:sp>
      <p:sp>
        <p:nvSpPr>
          <p:cNvPr id="3" name="Content Placeholder 2">
            <a:extLst>
              <a:ext uri="{FF2B5EF4-FFF2-40B4-BE49-F238E27FC236}">
                <a16:creationId xmlns="" xmlns:a16="http://schemas.microsoft.com/office/drawing/2014/main" id="{09E7F86C-8ADF-DFC2-9388-B0DC309DF9D4}"/>
              </a:ext>
            </a:extLst>
          </p:cNvPr>
          <p:cNvSpPr>
            <a:spLocks noGrp="1"/>
          </p:cNvSpPr>
          <p:nvPr>
            <p:ph idx="1"/>
          </p:nvPr>
        </p:nvSpPr>
        <p:spPr/>
        <p:txBody>
          <a:bodyPr vert="horz" lIns="91440" tIns="45720" rIns="91440" bIns="45720" rtlCol="0" anchor="t">
            <a:normAutofit fontScale="92500"/>
          </a:bodyPr>
          <a:lstStyle/>
          <a:p>
            <a:pPr lvl="0"/>
            <a:r>
              <a:rPr lang="en-IN" dirty="0"/>
              <a:t>Sprint Planning is the </a:t>
            </a:r>
            <a:r>
              <a:rPr lang="en-IN" b="1" dirty="0"/>
              <a:t>first event</a:t>
            </a:r>
            <a:r>
              <a:rPr lang="en-IN" dirty="0"/>
              <a:t> in a Scrum Sprint, where the Scrum Team collaboratively decides </a:t>
            </a:r>
            <a:r>
              <a:rPr lang="en-IN" b="1" dirty="0"/>
              <a:t>what</a:t>
            </a:r>
            <a:r>
              <a:rPr lang="en-IN" dirty="0"/>
              <a:t> work will be completed in the upcoming Sprint and </a:t>
            </a:r>
            <a:r>
              <a:rPr lang="en-IN" b="1" dirty="0"/>
              <a:t>how</a:t>
            </a:r>
            <a:r>
              <a:rPr lang="en-IN" dirty="0"/>
              <a:t> it will be accomplished. This meeting is time-boxed (typically </a:t>
            </a:r>
            <a:r>
              <a:rPr lang="en-IN" b="1" dirty="0"/>
              <a:t>max 8 hours for a 4-week Sprint</a:t>
            </a:r>
            <a:r>
              <a:rPr lang="en-IN" dirty="0"/>
              <a:t> and </a:t>
            </a:r>
            <a:r>
              <a:rPr lang="en-IN" b="1" dirty="0"/>
              <a:t>proportionally shorter for shorter Sprints</a:t>
            </a:r>
            <a:r>
              <a:rPr lang="en-IN" dirty="0" smtClean="0"/>
              <a:t>).</a:t>
            </a:r>
          </a:p>
          <a:p>
            <a:pPr marL="0" indent="0">
              <a:buNone/>
            </a:pPr>
            <a:r>
              <a:rPr lang="en-IN" b="1" dirty="0"/>
              <a:t>Purpose of Sprint Planning</a:t>
            </a:r>
            <a:endParaRPr lang="en-US" b="1" dirty="0"/>
          </a:p>
          <a:p>
            <a:pPr lvl="0"/>
            <a:r>
              <a:rPr lang="en-IN" dirty="0"/>
              <a:t>Define the </a:t>
            </a:r>
            <a:r>
              <a:rPr lang="en-IN" b="1" dirty="0"/>
              <a:t>Sprint Goal</a:t>
            </a:r>
            <a:r>
              <a:rPr lang="en-IN" dirty="0"/>
              <a:t> (a high-level objective for the Sprint).</a:t>
            </a:r>
            <a:endParaRPr lang="en-US" dirty="0"/>
          </a:p>
          <a:p>
            <a:pPr lvl="0"/>
            <a:r>
              <a:rPr lang="en-IN" dirty="0"/>
              <a:t>Select </a:t>
            </a:r>
            <a:r>
              <a:rPr lang="en-IN" b="1" dirty="0"/>
              <a:t>Product Backlog items</a:t>
            </a:r>
            <a:r>
              <a:rPr lang="en-IN" dirty="0"/>
              <a:t> to be worked on during the Sprint.</a:t>
            </a:r>
            <a:endParaRPr lang="en-US" dirty="0"/>
          </a:p>
          <a:p>
            <a:pPr lvl="0"/>
            <a:r>
              <a:rPr lang="en-IN" dirty="0"/>
              <a:t>Break down backlog items into smaller, manageable </a:t>
            </a:r>
            <a:r>
              <a:rPr lang="en-IN" b="1" dirty="0"/>
              <a:t>tasks</a:t>
            </a:r>
            <a:r>
              <a:rPr lang="en-IN" dirty="0"/>
              <a:t>.</a:t>
            </a:r>
            <a:endParaRPr lang="en-US" dirty="0"/>
          </a:p>
          <a:p>
            <a:pPr lvl="0"/>
            <a:r>
              <a:rPr lang="en-IN" dirty="0"/>
              <a:t>Estimate </a:t>
            </a:r>
            <a:r>
              <a:rPr lang="en-IN" b="1" dirty="0"/>
              <a:t>effort</a:t>
            </a:r>
            <a:r>
              <a:rPr lang="en-IN" dirty="0"/>
              <a:t> and align team capacity with workload.</a:t>
            </a:r>
            <a:endParaRPr lang="en-US" dirty="0"/>
          </a:p>
          <a:p>
            <a:pPr lvl="0"/>
            <a:endParaRPr lang="en-US" dirty="0"/>
          </a:p>
        </p:txBody>
      </p:sp>
      <p:pic>
        <p:nvPicPr>
          <p:cNvPr id="5" name="Picture 4" descr="A black and white logo&#10;&#10;AI-generated content may be incorrect.">
            <a:extLst>
              <a:ext uri="{FF2B5EF4-FFF2-40B4-BE49-F238E27FC236}">
                <a16:creationId xmlns="" xmlns:a16="http://schemas.microsoft.com/office/drawing/2014/main" id="{7D3EA213-6329-0184-9DD9-4F14FD29D1BA}"/>
              </a:ext>
            </a:extLst>
          </p:cNvPr>
          <p:cNvPicPr>
            <a:picLocks noChangeAspect="1"/>
          </p:cNvPicPr>
          <p:nvPr/>
        </p:nvPicPr>
        <p:blipFill>
          <a:blip r:embed="rId2"/>
          <a:stretch>
            <a:fillRect/>
          </a:stretch>
        </p:blipFill>
        <p:spPr>
          <a:xfrm>
            <a:off x="10661671" y="38166"/>
            <a:ext cx="1369645" cy="664793"/>
          </a:xfrm>
          <a:prstGeom prst="rect">
            <a:avLst/>
          </a:prstGeom>
        </p:spPr>
      </p:pic>
    </p:spTree>
    <p:extLst>
      <p:ext uri="{BB962C8B-B14F-4D97-AF65-F5344CB8AC3E}">
        <p14:creationId xmlns:p14="http://schemas.microsoft.com/office/powerpoint/2010/main" val="3718302229"/>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 xmlns:a16="http://schemas.microsoft.com/office/drawing/2014/main" id="{5222936C-95B8-0073-A638-A55495736D21}"/>
              </a:ext>
            </a:extLst>
          </p:cNvPr>
          <p:cNvSpPr>
            <a:spLocks noGrp="1"/>
          </p:cNvSpPr>
          <p:nvPr>
            <p:ph type="title"/>
          </p:nvPr>
        </p:nvSpPr>
        <p:spPr/>
        <p:txBody>
          <a:bodyPr/>
          <a:lstStyle/>
          <a:p>
            <a:pPr lvl="0"/>
            <a:r>
              <a:rPr lang="en-IN" dirty="0" smtClean="0"/>
              <a:t>Scrum Metrics</a:t>
            </a:r>
            <a:endParaRPr lang="en-US" dirty="0"/>
          </a:p>
        </p:txBody>
      </p:sp>
      <p:sp>
        <p:nvSpPr>
          <p:cNvPr id="3" name="Content Placeholder 2">
            <a:extLst>
              <a:ext uri="{FF2B5EF4-FFF2-40B4-BE49-F238E27FC236}">
                <a16:creationId xmlns="" xmlns:a16="http://schemas.microsoft.com/office/drawing/2014/main" id="{09E7F86C-8ADF-DFC2-9388-B0DC309DF9D4}"/>
              </a:ext>
            </a:extLst>
          </p:cNvPr>
          <p:cNvSpPr>
            <a:spLocks noGrp="1"/>
          </p:cNvSpPr>
          <p:nvPr>
            <p:ph idx="1"/>
          </p:nvPr>
        </p:nvSpPr>
        <p:spPr/>
        <p:txBody>
          <a:bodyPr vert="horz" lIns="91440" tIns="45720" rIns="91440" bIns="45720" rtlCol="0" anchor="t">
            <a:normAutofit fontScale="55000" lnSpcReduction="20000"/>
          </a:bodyPr>
          <a:lstStyle/>
          <a:p>
            <a:pPr marL="0" indent="0">
              <a:buNone/>
            </a:pPr>
            <a:r>
              <a:rPr lang="en-IN" b="1" dirty="0" smtClean="0"/>
              <a:t>1. Sprint </a:t>
            </a:r>
            <a:r>
              <a:rPr lang="en-IN" b="1" dirty="0"/>
              <a:t>Metrics</a:t>
            </a:r>
            <a:endParaRPr lang="en-US" b="1" dirty="0"/>
          </a:p>
          <a:p>
            <a:pPr marL="0" indent="0">
              <a:buNone/>
            </a:pPr>
            <a:r>
              <a:rPr lang="en-IN" b="1" dirty="0"/>
              <a:t>1.1 Velocity</a:t>
            </a:r>
            <a:endParaRPr lang="en-US" b="1" dirty="0"/>
          </a:p>
          <a:p>
            <a:pPr lvl="0"/>
            <a:r>
              <a:rPr lang="en-IN" b="1" dirty="0"/>
              <a:t>Definition:</a:t>
            </a:r>
            <a:r>
              <a:rPr lang="en-IN" dirty="0"/>
              <a:t> Measures the average amount of work (story points or user stories) completed per Sprint.</a:t>
            </a:r>
            <a:endParaRPr lang="en-US" dirty="0"/>
          </a:p>
          <a:p>
            <a:pPr lvl="0"/>
            <a:r>
              <a:rPr lang="en-IN" b="1" dirty="0"/>
              <a:t>Purpose:</a:t>
            </a:r>
            <a:r>
              <a:rPr lang="en-IN" dirty="0"/>
              <a:t> Helps predict future sprint capacity.</a:t>
            </a:r>
            <a:endParaRPr lang="en-US" dirty="0"/>
          </a:p>
          <a:p>
            <a:pPr lvl="0"/>
            <a:r>
              <a:rPr lang="en-IN" b="1" dirty="0"/>
              <a:t>Formula:</a:t>
            </a:r>
            <a:r>
              <a:rPr lang="en-IN" dirty="0"/>
              <a:t> Velocity=Total Story Points Completed/Number of Sprints</a:t>
            </a:r>
            <a:endParaRPr lang="en-US" dirty="0"/>
          </a:p>
          <a:p>
            <a:pPr marL="0" indent="0">
              <a:buNone/>
            </a:pPr>
            <a:r>
              <a:rPr lang="en-IN" b="1" dirty="0"/>
              <a:t>1.2 Sprint Burndown Chart</a:t>
            </a:r>
            <a:endParaRPr lang="en-US" b="1" dirty="0"/>
          </a:p>
          <a:p>
            <a:pPr lvl="0"/>
            <a:r>
              <a:rPr lang="en-IN" b="1" dirty="0"/>
              <a:t>Definition:</a:t>
            </a:r>
            <a:r>
              <a:rPr lang="en-IN" dirty="0"/>
              <a:t> A graphical representation of work remaining in the Sprint.</a:t>
            </a:r>
            <a:endParaRPr lang="en-US" dirty="0"/>
          </a:p>
          <a:p>
            <a:pPr lvl="0"/>
            <a:r>
              <a:rPr lang="en-IN" b="1" dirty="0"/>
              <a:t>Purpose:</a:t>
            </a:r>
            <a:r>
              <a:rPr lang="en-IN" dirty="0"/>
              <a:t> Tracks sprint progress and helps identify scope creep or bottlenecks.</a:t>
            </a:r>
            <a:endParaRPr lang="en-US" dirty="0"/>
          </a:p>
          <a:p>
            <a:pPr lvl="0"/>
            <a:r>
              <a:rPr lang="en-IN" b="1" dirty="0"/>
              <a:t>How it Works:</a:t>
            </a:r>
            <a:endParaRPr lang="en-US" dirty="0"/>
          </a:p>
          <a:p>
            <a:pPr lvl="1"/>
            <a:r>
              <a:rPr lang="en-IN" dirty="0"/>
              <a:t>X-axis → Time (Sprint duration).</a:t>
            </a:r>
            <a:endParaRPr lang="en-US" dirty="0"/>
          </a:p>
          <a:p>
            <a:pPr lvl="1"/>
            <a:r>
              <a:rPr lang="en-IN" dirty="0"/>
              <a:t>Y-axis → Remaining work (Story points or hours).</a:t>
            </a:r>
            <a:endParaRPr lang="en-US" dirty="0"/>
          </a:p>
          <a:p>
            <a:pPr lvl="1"/>
            <a:r>
              <a:rPr lang="en-IN" b="1" dirty="0"/>
              <a:t>Ideal burndown</a:t>
            </a:r>
            <a:r>
              <a:rPr lang="en-IN" dirty="0"/>
              <a:t> line vs. </a:t>
            </a:r>
            <a:r>
              <a:rPr lang="en-IN" b="1" dirty="0"/>
              <a:t>actual progress</a:t>
            </a:r>
            <a:r>
              <a:rPr lang="en-IN" dirty="0"/>
              <a:t>.</a:t>
            </a:r>
            <a:endParaRPr lang="en-US" dirty="0"/>
          </a:p>
          <a:p>
            <a:pPr marL="0" indent="0">
              <a:buNone/>
            </a:pPr>
            <a:r>
              <a:rPr lang="en-IN" b="1" dirty="0"/>
              <a:t>1.3 Sprint Goal Success Rate</a:t>
            </a:r>
            <a:endParaRPr lang="en-US" b="1" dirty="0"/>
          </a:p>
          <a:p>
            <a:pPr lvl="0"/>
            <a:r>
              <a:rPr lang="en-IN" b="1" dirty="0"/>
              <a:t>Definition:</a:t>
            </a:r>
            <a:r>
              <a:rPr lang="en-IN" dirty="0"/>
              <a:t> Measures how many Sprint Goals are fully achieved.</a:t>
            </a:r>
            <a:endParaRPr lang="en-US" dirty="0"/>
          </a:p>
          <a:p>
            <a:pPr lvl="0"/>
            <a:r>
              <a:rPr lang="en-IN" b="1" dirty="0"/>
              <a:t>Purpose:</a:t>
            </a:r>
            <a:r>
              <a:rPr lang="en-IN" dirty="0"/>
              <a:t> Evaluates how well the team meets commitments.</a:t>
            </a:r>
            <a:endParaRPr lang="en-US" dirty="0"/>
          </a:p>
          <a:p>
            <a:r>
              <a:rPr lang="en-IN" b="1" dirty="0"/>
              <a:t>Formula:</a:t>
            </a:r>
            <a:r>
              <a:rPr lang="en-IN" dirty="0"/>
              <a:t> Success Rate=Sprints with Completed Goals/Total Sprints×100</a:t>
            </a:r>
            <a:endParaRPr lang="en-US" dirty="0"/>
          </a:p>
        </p:txBody>
      </p:sp>
      <p:pic>
        <p:nvPicPr>
          <p:cNvPr id="5" name="Picture 4" descr="A black and white logo&#10;&#10;AI-generated content may be incorrect.">
            <a:extLst>
              <a:ext uri="{FF2B5EF4-FFF2-40B4-BE49-F238E27FC236}">
                <a16:creationId xmlns="" xmlns:a16="http://schemas.microsoft.com/office/drawing/2014/main" id="{7D3EA213-6329-0184-9DD9-4F14FD29D1BA}"/>
              </a:ext>
            </a:extLst>
          </p:cNvPr>
          <p:cNvPicPr>
            <a:picLocks noChangeAspect="1"/>
          </p:cNvPicPr>
          <p:nvPr/>
        </p:nvPicPr>
        <p:blipFill>
          <a:blip r:embed="rId2"/>
          <a:stretch>
            <a:fillRect/>
          </a:stretch>
        </p:blipFill>
        <p:spPr>
          <a:xfrm>
            <a:off x="10661671" y="38166"/>
            <a:ext cx="1369645" cy="664793"/>
          </a:xfrm>
          <a:prstGeom prst="rect">
            <a:avLst/>
          </a:prstGeom>
        </p:spPr>
      </p:pic>
    </p:spTree>
    <p:extLst>
      <p:ext uri="{BB962C8B-B14F-4D97-AF65-F5344CB8AC3E}">
        <p14:creationId xmlns:p14="http://schemas.microsoft.com/office/powerpoint/2010/main" val="3116535090"/>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 xmlns:a16="http://schemas.microsoft.com/office/drawing/2014/main" id="{5222936C-95B8-0073-A638-A55495736D21}"/>
              </a:ext>
            </a:extLst>
          </p:cNvPr>
          <p:cNvSpPr>
            <a:spLocks noGrp="1"/>
          </p:cNvSpPr>
          <p:nvPr>
            <p:ph type="title"/>
          </p:nvPr>
        </p:nvSpPr>
        <p:spPr/>
        <p:txBody>
          <a:bodyPr/>
          <a:lstStyle/>
          <a:p>
            <a:pPr lvl="0"/>
            <a:r>
              <a:rPr lang="en-IN" dirty="0" smtClean="0"/>
              <a:t>Scrum Metrics</a:t>
            </a:r>
            <a:endParaRPr lang="en-US" dirty="0"/>
          </a:p>
        </p:txBody>
      </p:sp>
      <p:sp>
        <p:nvSpPr>
          <p:cNvPr id="3" name="Content Placeholder 2">
            <a:extLst>
              <a:ext uri="{FF2B5EF4-FFF2-40B4-BE49-F238E27FC236}">
                <a16:creationId xmlns="" xmlns:a16="http://schemas.microsoft.com/office/drawing/2014/main" id="{09E7F86C-8ADF-DFC2-9388-B0DC309DF9D4}"/>
              </a:ext>
            </a:extLst>
          </p:cNvPr>
          <p:cNvSpPr>
            <a:spLocks noGrp="1"/>
          </p:cNvSpPr>
          <p:nvPr>
            <p:ph idx="1"/>
          </p:nvPr>
        </p:nvSpPr>
        <p:spPr/>
        <p:txBody>
          <a:bodyPr vert="horz" lIns="91440" tIns="45720" rIns="91440" bIns="45720" rtlCol="0" anchor="t">
            <a:normAutofit fontScale="77500" lnSpcReduction="20000"/>
          </a:bodyPr>
          <a:lstStyle/>
          <a:p>
            <a:pPr marL="0" indent="0">
              <a:buNone/>
            </a:pPr>
            <a:r>
              <a:rPr lang="en-IN" b="1" dirty="0" smtClean="0"/>
              <a:t>2. Product Metrics</a:t>
            </a:r>
          </a:p>
          <a:p>
            <a:pPr marL="0" indent="0">
              <a:buNone/>
            </a:pPr>
            <a:r>
              <a:rPr lang="en-IN" b="1" dirty="0" smtClean="0"/>
              <a:t>2.1 </a:t>
            </a:r>
            <a:r>
              <a:rPr lang="en-IN" b="1" dirty="0"/>
              <a:t>Release Burndown Chart</a:t>
            </a:r>
            <a:endParaRPr lang="en-US" b="1" dirty="0"/>
          </a:p>
          <a:p>
            <a:pPr lvl="0"/>
            <a:r>
              <a:rPr lang="en-IN" b="1" dirty="0"/>
              <a:t>Definition:</a:t>
            </a:r>
            <a:r>
              <a:rPr lang="en-IN" dirty="0"/>
              <a:t> Tracks work completion over multiple Sprints toward a release.</a:t>
            </a:r>
            <a:endParaRPr lang="en-US" dirty="0"/>
          </a:p>
          <a:p>
            <a:pPr lvl="0"/>
            <a:r>
              <a:rPr lang="en-IN" b="1" dirty="0"/>
              <a:t>Purpose:</a:t>
            </a:r>
            <a:r>
              <a:rPr lang="en-IN" dirty="0"/>
              <a:t> Helps forecast release readiness and track overall progress.</a:t>
            </a:r>
            <a:endParaRPr lang="en-US" dirty="0"/>
          </a:p>
          <a:p>
            <a:pPr marL="0" indent="0">
              <a:buNone/>
            </a:pPr>
            <a:r>
              <a:rPr lang="en-IN" b="1" dirty="0"/>
              <a:t>2.2 Cumulative Flow Diagram (CFD)</a:t>
            </a:r>
            <a:endParaRPr lang="en-US" b="1" dirty="0"/>
          </a:p>
          <a:p>
            <a:pPr lvl="0"/>
            <a:r>
              <a:rPr lang="en-IN" b="1" dirty="0"/>
              <a:t>Definition:</a:t>
            </a:r>
            <a:r>
              <a:rPr lang="en-IN" dirty="0"/>
              <a:t> A visual representation of the status of work items (To Do, In Progress, Done) over time.</a:t>
            </a:r>
            <a:endParaRPr lang="en-US" dirty="0"/>
          </a:p>
          <a:p>
            <a:pPr lvl="0"/>
            <a:r>
              <a:rPr lang="en-IN" b="1" dirty="0"/>
              <a:t>Purpose:</a:t>
            </a:r>
            <a:r>
              <a:rPr lang="en-IN" dirty="0"/>
              <a:t> Identifies bottlenecks and helps optimize workflow.</a:t>
            </a:r>
            <a:endParaRPr lang="en-US" dirty="0"/>
          </a:p>
          <a:p>
            <a:pPr marL="0" indent="0">
              <a:buNone/>
            </a:pPr>
            <a:r>
              <a:rPr lang="en-IN" b="1" dirty="0"/>
              <a:t>2.3 Lead Time &amp; Cycle Time</a:t>
            </a:r>
            <a:endParaRPr lang="en-US" b="1" dirty="0"/>
          </a:p>
          <a:p>
            <a:pPr lvl="0"/>
            <a:r>
              <a:rPr lang="en-IN" b="1" dirty="0"/>
              <a:t>Lead Time:</a:t>
            </a:r>
            <a:r>
              <a:rPr lang="en-IN" dirty="0"/>
              <a:t> Time from when a user story is requested until it is delivered.</a:t>
            </a:r>
            <a:endParaRPr lang="en-US" dirty="0"/>
          </a:p>
          <a:p>
            <a:pPr lvl="0"/>
            <a:r>
              <a:rPr lang="en-IN" b="1" dirty="0"/>
              <a:t>Cycle Time:</a:t>
            </a:r>
            <a:r>
              <a:rPr lang="en-IN" dirty="0"/>
              <a:t> Time from when work on a story starts until it is completed.</a:t>
            </a:r>
            <a:endParaRPr lang="en-US" dirty="0"/>
          </a:p>
          <a:p>
            <a:pPr lvl="0"/>
            <a:r>
              <a:rPr lang="en-IN" b="1" dirty="0"/>
              <a:t>Purpose:</a:t>
            </a:r>
            <a:r>
              <a:rPr lang="en-IN" dirty="0"/>
              <a:t> Measures efficiency and identifies delays in the process.</a:t>
            </a:r>
            <a:endParaRPr lang="en-US" dirty="0"/>
          </a:p>
          <a:p>
            <a:pPr marL="0" indent="0">
              <a:buNone/>
            </a:pPr>
            <a:endParaRPr lang="en-IN" dirty="0" smtClean="0"/>
          </a:p>
        </p:txBody>
      </p:sp>
      <p:pic>
        <p:nvPicPr>
          <p:cNvPr id="5" name="Picture 4" descr="A black and white logo&#10;&#10;AI-generated content may be incorrect.">
            <a:extLst>
              <a:ext uri="{FF2B5EF4-FFF2-40B4-BE49-F238E27FC236}">
                <a16:creationId xmlns="" xmlns:a16="http://schemas.microsoft.com/office/drawing/2014/main" id="{7D3EA213-6329-0184-9DD9-4F14FD29D1BA}"/>
              </a:ext>
            </a:extLst>
          </p:cNvPr>
          <p:cNvPicPr>
            <a:picLocks noChangeAspect="1"/>
          </p:cNvPicPr>
          <p:nvPr/>
        </p:nvPicPr>
        <p:blipFill>
          <a:blip r:embed="rId2"/>
          <a:stretch>
            <a:fillRect/>
          </a:stretch>
        </p:blipFill>
        <p:spPr>
          <a:xfrm>
            <a:off x="10661671" y="38166"/>
            <a:ext cx="1369645" cy="664793"/>
          </a:xfrm>
          <a:prstGeom prst="rect">
            <a:avLst/>
          </a:prstGeom>
        </p:spPr>
      </p:pic>
    </p:spTree>
    <p:extLst>
      <p:ext uri="{BB962C8B-B14F-4D97-AF65-F5344CB8AC3E}">
        <p14:creationId xmlns:p14="http://schemas.microsoft.com/office/powerpoint/2010/main" val="1643889202"/>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 xmlns:a16="http://schemas.microsoft.com/office/drawing/2014/main" id="{5222936C-95B8-0073-A638-A55495736D21}"/>
              </a:ext>
            </a:extLst>
          </p:cNvPr>
          <p:cNvSpPr>
            <a:spLocks noGrp="1"/>
          </p:cNvSpPr>
          <p:nvPr>
            <p:ph type="title"/>
          </p:nvPr>
        </p:nvSpPr>
        <p:spPr/>
        <p:txBody>
          <a:bodyPr/>
          <a:lstStyle/>
          <a:p>
            <a:pPr lvl="0"/>
            <a:r>
              <a:rPr lang="en-IN" dirty="0" smtClean="0"/>
              <a:t>Scrum Metrics</a:t>
            </a:r>
            <a:endParaRPr lang="en-US" dirty="0"/>
          </a:p>
        </p:txBody>
      </p:sp>
      <p:sp>
        <p:nvSpPr>
          <p:cNvPr id="3" name="Content Placeholder 2">
            <a:extLst>
              <a:ext uri="{FF2B5EF4-FFF2-40B4-BE49-F238E27FC236}">
                <a16:creationId xmlns="" xmlns:a16="http://schemas.microsoft.com/office/drawing/2014/main" id="{09E7F86C-8ADF-DFC2-9388-B0DC309DF9D4}"/>
              </a:ext>
            </a:extLst>
          </p:cNvPr>
          <p:cNvSpPr>
            <a:spLocks noGrp="1"/>
          </p:cNvSpPr>
          <p:nvPr>
            <p:ph idx="1"/>
          </p:nvPr>
        </p:nvSpPr>
        <p:spPr/>
        <p:txBody>
          <a:bodyPr vert="horz" lIns="91440" tIns="45720" rIns="91440" bIns="45720" rtlCol="0" anchor="t">
            <a:normAutofit fontScale="92500" lnSpcReduction="20000"/>
          </a:bodyPr>
          <a:lstStyle/>
          <a:p>
            <a:pPr marL="0" indent="0">
              <a:buNone/>
            </a:pPr>
            <a:r>
              <a:rPr lang="en-IN" b="1" dirty="0" smtClean="0"/>
              <a:t>3. Quality Metrics</a:t>
            </a:r>
          </a:p>
          <a:p>
            <a:pPr marL="0" indent="0">
              <a:buNone/>
            </a:pPr>
            <a:r>
              <a:rPr lang="en-IN" b="1" dirty="0"/>
              <a:t>3.1 Defect Density</a:t>
            </a:r>
            <a:endParaRPr lang="en-US" b="1" dirty="0"/>
          </a:p>
          <a:p>
            <a:pPr lvl="0"/>
            <a:r>
              <a:rPr lang="en-IN" b="1" dirty="0"/>
              <a:t>Definition:</a:t>
            </a:r>
            <a:r>
              <a:rPr lang="en-IN" dirty="0"/>
              <a:t> Measures the number of defects per unit of work completed.</a:t>
            </a:r>
            <a:endParaRPr lang="en-US" dirty="0"/>
          </a:p>
          <a:p>
            <a:pPr lvl="0"/>
            <a:r>
              <a:rPr lang="en-IN" b="1" dirty="0"/>
              <a:t>Purpose:</a:t>
            </a:r>
            <a:r>
              <a:rPr lang="en-IN" dirty="0"/>
              <a:t> Tracks software quality and helps teams improve testing practices.</a:t>
            </a:r>
            <a:endParaRPr lang="en-US" dirty="0"/>
          </a:p>
          <a:p>
            <a:pPr lvl="0"/>
            <a:r>
              <a:rPr lang="en-IN" b="1" dirty="0"/>
              <a:t>Formula:</a:t>
            </a:r>
            <a:r>
              <a:rPr lang="en-IN" dirty="0"/>
              <a:t> Defect Density=Total Defects/Total Story Points or Features</a:t>
            </a:r>
            <a:endParaRPr lang="en-US" dirty="0"/>
          </a:p>
          <a:p>
            <a:pPr marL="0" indent="0">
              <a:buNone/>
            </a:pPr>
            <a:r>
              <a:rPr lang="en-IN" b="1" dirty="0"/>
              <a:t>3.2 Escaped Defects</a:t>
            </a:r>
            <a:endParaRPr lang="en-US" b="1" dirty="0"/>
          </a:p>
          <a:p>
            <a:pPr lvl="0"/>
            <a:r>
              <a:rPr lang="en-IN" b="1" dirty="0"/>
              <a:t>Definition:</a:t>
            </a:r>
            <a:r>
              <a:rPr lang="en-IN" dirty="0"/>
              <a:t> Bugs found in production after release.</a:t>
            </a:r>
            <a:endParaRPr lang="en-US" dirty="0"/>
          </a:p>
          <a:p>
            <a:pPr lvl="0"/>
            <a:r>
              <a:rPr lang="en-IN" b="1" dirty="0"/>
              <a:t>Purpose:</a:t>
            </a:r>
            <a:r>
              <a:rPr lang="en-IN" dirty="0"/>
              <a:t> Evaluates the effectiveness of testing and quality control.</a:t>
            </a:r>
            <a:endParaRPr lang="en-US" dirty="0"/>
          </a:p>
          <a:p>
            <a:pPr marL="0" indent="0">
              <a:buNone/>
            </a:pPr>
            <a:endParaRPr lang="en-IN" dirty="0" smtClean="0"/>
          </a:p>
        </p:txBody>
      </p:sp>
      <p:pic>
        <p:nvPicPr>
          <p:cNvPr id="5" name="Picture 4" descr="A black and white logo&#10;&#10;AI-generated content may be incorrect.">
            <a:extLst>
              <a:ext uri="{FF2B5EF4-FFF2-40B4-BE49-F238E27FC236}">
                <a16:creationId xmlns="" xmlns:a16="http://schemas.microsoft.com/office/drawing/2014/main" id="{7D3EA213-6329-0184-9DD9-4F14FD29D1BA}"/>
              </a:ext>
            </a:extLst>
          </p:cNvPr>
          <p:cNvPicPr>
            <a:picLocks noChangeAspect="1"/>
          </p:cNvPicPr>
          <p:nvPr/>
        </p:nvPicPr>
        <p:blipFill>
          <a:blip r:embed="rId2"/>
          <a:stretch>
            <a:fillRect/>
          </a:stretch>
        </p:blipFill>
        <p:spPr>
          <a:xfrm>
            <a:off x="10661671" y="38166"/>
            <a:ext cx="1369645" cy="664793"/>
          </a:xfrm>
          <a:prstGeom prst="rect">
            <a:avLst/>
          </a:prstGeom>
        </p:spPr>
      </p:pic>
    </p:spTree>
    <p:extLst>
      <p:ext uri="{BB962C8B-B14F-4D97-AF65-F5344CB8AC3E}">
        <p14:creationId xmlns:p14="http://schemas.microsoft.com/office/powerpoint/2010/main" val="3540875074"/>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 xmlns:a16="http://schemas.microsoft.com/office/drawing/2014/main" id="{5222936C-95B8-0073-A638-A55495736D21}"/>
              </a:ext>
            </a:extLst>
          </p:cNvPr>
          <p:cNvSpPr>
            <a:spLocks noGrp="1"/>
          </p:cNvSpPr>
          <p:nvPr>
            <p:ph type="title"/>
          </p:nvPr>
        </p:nvSpPr>
        <p:spPr/>
        <p:txBody>
          <a:bodyPr/>
          <a:lstStyle/>
          <a:p>
            <a:pPr lvl="0"/>
            <a:r>
              <a:rPr lang="en-IN" dirty="0" smtClean="0"/>
              <a:t>Scrum Metrics</a:t>
            </a:r>
            <a:endParaRPr lang="en-US" dirty="0"/>
          </a:p>
        </p:txBody>
      </p:sp>
      <p:sp>
        <p:nvSpPr>
          <p:cNvPr id="3" name="Content Placeholder 2">
            <a:extLst>
              <a:ext uri="{FF2B5EF4-FFF2-40B4-BE49-F238E27FC236}">
                <a16:creationId xmlns="" xmlns:a16="http://schemas.microsoft.com/office/drawing/2014/main" id="{09E7F86C-8ADF-DFC2-9388-B0DC309DF9D4}"/>
              </a:ext>
            </a:extLst>
          </p:cNvPr>
          <p:cNvSpPr>
            <a:spLocks noGrp="1"/>
          </p:cNvSpPr>
          <p:nvPr>
            <p:ph idx="1"/>
          </p:nvPr>
        </p:nvSpPr>
        <p:spPr/>
        <p:txBody>
          <a:bodyPr vert="horz" lIns="91440" tIns="45720" rIns="91440" bIns="45720" rtlCol="0" anchor="t">
            <a:normAutofit fontScale="92500"/>
          </a:bodyPr>
          <a:lstStyle/>
          <a:p>
            <a:pPr marL="0" indent="0">
              <a:buNone/>
            </a:pPr>
            <a:r>
              <a:rPr lang="en-IN" b="1" dirty="0" smtClean="0"/>
              <a:t>4. Process Metrics</a:t>
            </a:r>
          </a:p>
          <a:p>
            <a:pPr marL="0" indent="0">
              <a:buNone/>
            </a:pPr>
            <a:r>
              <a:rPr lang="en-IN" b="1" dirty="0"/>
              <a:t>4.1 Work in Progress (WIP) Limit</a:t>
            </a:r>
            <a:endParaRPr lang="en-US" b="1" dirty="0"/>
          </a:p>
          <a:p>
            <a:pPr lvl="0"/>
            <a:r>
              <a:rPr lang="en-IN" b="1" dirty="0"/>
              <a:t>Definition:</a:t>
            </a:r>
            <a:r>
              <a:rPr lang="en-IN" dirty="0"/>
              <a:t> The maximum number of tasks that can be in progress at once.</a:t>
            </a:r>
            <a:endParaRPr lang="en-US" dirty="0"/>
          </a:p>
          <a:p>
            <a:pPr lvl="0"/>
            <a:r>
              <a:rPr lang="en-IN" b="1" dirty="0"/>
              <a:t>Purpose:</a:t>
            </a:r>
            <a:r>
              <a:rPr lang="en-IN" dirty="0"/>
              <a:t> Prevents bottlenecks and ensures focus on finishing tasks.</a:t>
            </a:r>
            <a:endParaRPr lang="en-US" dirty="0"/>
          </a:p>
          <a:p>
            <a:pPr marL="0" indent="0">
              <a:buNone/>
            </a:pPr>
            <a:r>
              <a:rPr lang="en-IN" b="1" dirty="0"/>
              <a:t>4.2 Team Happiness Index</a:t>
            </a:r>
            <a:endParaRPr lang="en-US" b="1" dirty="0"/>
          </a:p>
          <a:p>
            <a:pPr lvl="0"/>
            <a:r>
              <a:rPr lang="en-IN" b="1" dirty="0"/>
              <a:t>Definition:</a:t>
            </a:r>
            <a:r>
              <a:rPr lang="en-IN" dirty="0"/>
              <a:t> A subjective measure of team morale and job satisfaction.</a:t>
            </a:r>
            <a:endParaRPr lang="en-US" dirty="0"/>
          </a:p>
          <a:p>
            <a:pPr lvl="0"/>
            <a:r>
              <a:rPr lang="en-IN" b="1" dirty="0"/>
              <a:t>Purpose:</a:t>
            </a:r>
            <a:r>
              <a:rPr lang="en-IN" dirty="0"/>
              <a:t> Ensures a sustainable and productive work environment.</a:t>
            </a:r>
            <a:endParaRPr lang="en-US" dirty="0"/>
          </a:p>
          <a:p>
            <a:pPr marL="0" indent="0">
              <a:buNone/>
            </a:pPr>
            <a:endParaRPr lang="en-IN" dirty="0" smtClean="0"/>
          </a:p>
        </p:txBody>
      </p:sp>
      <p:pic>
        <p:nvPicPr>
          <p:cNvPr id="5" name="Picture 4" descr="A black and white logo&#10;&#10;AI-generated content may be incorrect.">
            <a:extLst>
              <a:ext uri="{FF2B5EF4-FFF2-40B4-BE49-F238E27FC236}">
                <a16:creationId xmlns="" xmlns:a16="http://schemas.microsoft.com/office/drawing/2014/main" id="{7D3EA213-6329-0184-9DD9-4F14FD29D1BA}"/>
              </a:ext>
            </a:extLst>
          </p:cNvPr>
          <p:cNvPicPr>
            <a:picLocks noChangeAspect="1"/>
          </p:cNvPicPr>
          <p:nvPr/>
        </p:nvPicPr>
        <p:blipFill>
          <a:blip r:embed="rId2"/>
          <a:stretch>
            <a:fillRect/>
          </a:stretch>
        </p:blipFill>
        <p:spPr>
          <a:xfrm>
            <a:off x="10661671" y="38166"/>
            <a:ext cx="1369645" cy="664793"/>
          </a:xfrm>
          <a:prstGeom prst="rect">
            <a:avLst/>
          </a:prstGeom>
        </p:spPr>
      </p:pic>
    </p:spTree>
    <p:extLst>
      <p:ext uri="{BB962C8B-B14F-4D97-AF65-F5344CB8AC3E}">
        <p14:creationId xmlns:p14="http://schemas.microsoft.com/office/powerpoint/2010/main" val="540677933"/>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Theme">
      <a:majorFont>
        <a:latin typeface="Aptos Display"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ptos" panose="020B000402020202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Them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emplate>office theme</Template>
  <TotalTime>154</TotalTime>
  <Words>1329</Words>
  <Application>Microsoft Office PowerPoint</Application>
  <PresentationFormat>Widescreen</PresentationFormat>
  <Paragraphs>131</Paragraphs>
  <Slides>19</Slides>
  <Notes>0</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19</vt:i4>
      </vt:variant>
    </vt:vector>
  </HeadingPairs>
  <TitlesOfParts>
    <vt:vector size="24" baseType="lpstr">
      <vt:lpstr>Aptos</vt:lpstr>
      <vt:lpstr>Aptos Display</vt:lpstr>
      <vt:lpstr>Arial</vt:lpstr>
      <vt:lpstr>Times New Roman</vt:lpstr>
      <vt:lpstr>office theme</vt:lpstr>
      <vt:lpstr> </vt:lpstr>
      <vt:lpstr>DevOps - Introduction</vt:lpstr>
      <vt:lpstr>DevOps - Lifecycle</vt:lpstr>
      <vt:lpstr>Why is DevOps Important?</vt:lpstr>
      <vt:lpstr>Project Execution Methodologies </vt:lpstr>
      <vt:lpstr>Agile Methodologies</vt:lpstr>
      <vt:lpstr>Agile Methodology</vt:lpstr>
      <vt:lpstr>Agile Practices in Detail</vt:lpstr>
      <vt:lpstr>Advantages of Agile</vt:lpstr>
      <vt:lpstr>Challenges of Agile</vt:lpstr>
      <vt:lpstr>Real-World Agile Examples</vt:lpstr>
      <vt:lpstr>Scrum Definition</vt:lpstr>
      <vt:lpstr>Scrum Artifacts</vt:lpstr>
      <vt:lpstr>Scrum Ceremonies</vt:lpstr>
      <vt:lpstr>Scrum Sprint Planning</vt:lpstr>
      <vt:lpstr>Scrum Metrics</vt:lpstr>
      <vt:lpstr>Scrum Metrics</vt:lpstr>
      <vt:lpstr>Scrum Metrics</vt:lpstr>
      <vt:lpstr>Scrum Metrics</vt:lpstr>
    </vt:vector>
  </TitlesOfParts>
  <LinksUpToDate>false</LinksUpToDate>
  <SharedDoc>false</SharedDoc>
  <HyperlinksChanged>false</HyperlinksChanged>
  <AppVersion>15.0000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title>
  <dc:creator/>
  <cp:lastModifiedBy>ADMIN</cp:lastModifiedBy>
  <cp:revision>208</cp:revision>
  <dcterms:created xsi:type="dcterms:W3CDTF">2025-01-03T03:28:48Z</dcterms:created>
  <dcterms:modified xsi:type="dcterms:W3CDTF">2025-02-01T11:20:17Z</dcterms:modified>
</cp:coreProperties>
</file>