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9" r:id="rId4"/>
    <p:sldId id="260" r:id="rId5"/>
    <p:sldId id="261" r:id="rId6"/>
    <p:sldId id="262"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7" r:id="rId20"/>
    <p:sldId id="276" r:id="rId21"/>
    <p:sldId id="278" r:id="rId22"/>
    <p:sldId id="279" r:id="rId23"/>
    <p:sldId id="280" r:id="rId24"/>
    <p:sldId id="281" r:id="rId25"/>
    <p:sldId id="282" r:id="rId26"/>
    <p:sldId id="28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EFCE667-6B9A-171C-3033-DE91EF1DE57E}" v="77" dt="2025-01-24T01:45:32.347"/>
    <p1510:client id="{B318F218-9284-DC7D-7845-497FE808A7C7}" v="71" dt="2025-01-24T05:13:06.127"/>
    <p1510:client id="{C2D42B61-264D-C288-9538-260D47A02891}" v="165" dt="2025-01-22T08:32:11.36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xmlns="" id="{B9D7E975-9161-4F2D-AC53-69E1912F6B5D}"/>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ight Triangle 41">
            <a:extLst>
              <a:ext uri="{FF2B5EF4-FFF2-40B4-BE49-F238E27FC236}">
                <a16:creationId xmlns:a16="http://schemas.microsoft.com/office/drawing/2014/main" xmlns="" id="{827DC2C4-B485-428A-BF4A-472D2967F47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8052497" y="1056640"/>
            <a:ext cx="3197660" cy="3125746"/>
          </a:xfrm>
        </p:spPr>
        <p:txBody>
          <a:bodyPr anchor="b">
            <a:normAutofit/>
          </a:bodyPr>
          <a:lstStyle/>
          <a:p>
            <a:pPr algn="l"/>
            <a:r>
              <a:rPr lang="en-US" sz="5000" dirty="0"/>
              <a:t/>
            </a:r>
            <a:br>
              <a:rPr lang="en-US" sz="5000" dirty="0"/>
            </a:br>
            <a:endParaRPr lang="en-US" sz="5000" dirty="0"/>
          </a:p>
        </p:txBody>
      </p:sp>
      <p:sp>
        <p:nvSpPr>
          <p:cNvPr id="3" name="Subtitle 2"/>
          <p:cNvSpPr>
            <a:spLocks noGrp="1"/>
          </p:cNvSpPr>
          <p:nvPr>
            <p:ph type="subTitle" idx="1"/>
          </p:nvPr>
        </p:nvSpPr>
        <p:spPr>
          <a:xfrm>
            <a:off x="8052496" y="4301656"/>
            <a:ext cx="2705619" cy="762618"/>
          </a:xfrm>
        </p:spPr>
        <p:txBody>
          <a:bodyPr anchor="t">
            <a:normAutofit/>
          </a:bodyPr>
          <a:lstStyle/>
          <a:p>
            <a:pPr algn="l"/>
            <a:r>
              <a:rPr lang="en-US" sz="2000"/>
              <a:t>   </a:t>
            </a:r>
          </a:p>
        </p:txBody>
      </p:sp>
      <p:pic>
        <p:nvPicPr>
          <p:cNvPr id="4" name="Picture 3" descr="A black and white logo&#10;&#10;AI-generated content may be incorrect.">
            <a:extLst>
              <a:ext uri="{FF2B5EF4-FFF2-40B4-BE49-F238E27FC236}">
                <a16:creationId xmlns:a16="http://schemas.microsoft.com/office/drawing/2014/main" xmlns="" id="{05B55EE7-14DB-A9C5-2713-A3A00D67778E}"/>
              </a:ext>
            </a:extLst>
          </p:cNvPr>
          <p:cNvPicPr>
            <a:picLocks noChangeAspect="1"/>
          </p:cNvPicPr>
          <p:nvPr/>
        </p:nvPicPr>
        <p:blipFill>
          <a:blip r:embed="rId2"/>
          <a:stretch>
            <a:fillRect/>
          </a:stretch>
        </p:blipFill>
        <p:spPr>
          <a:xfrm>
            <a:off x="10223261" y="6851"/>
            <a:ext cx="1808055" cy="623039"/>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86082" y="1244850"/>
            <a:ext cx="7105918" cy="3994176"/>
          </a:xfrm>
          <a:prstGeom prst="rect">
            <a:avLst/>
          </a:prstGeom>
        </p:spPr>
      </p:pic>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1412" y="1815151"/>
            <a:ext cx="5091569" cy="3120915"/>
          </a:xfrm>
          <a:prstGeom prst="rect">
            <a:avLst/>
          </a:pr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4094619-4E3B-6896-A8BE-214D255113A0}"/>
              </a:ext>
            </a:extLst>
          </p:cNvPr>
          <p:cNvSpPr>
            <a:spLocks noGrp="1"/>
          </p:cNvSpPr>
          <p:nvPr>
            <p:ph type="title"/>
          </p:nvPr>
        </p:nvSpPr>
        <p:spPr/>
        <p:txBody>
          <a:bodyPr/>
          <a:lstStyle/>
          <a:p>
            <a:r>
              <a:rPr lang="en-US" b="1" dirty="0" smtClean="0">
                <a:latin typeface="Times New Roman"/>
                <a:cs typeface="Times New Roman"/>
              </a:rPr>
              <a:t>Design Thinking - Introduction</a:t>
            </a:r>
            <a:endParaRPr lang="en-US" b="1" dirty="0">
              <a:latin typeface="Times New Roman"/>
              <a:cs typeface="Times New Roman"/>
            </a:endParaRPr>
          </a:p>
        </p:txBody>
      </p:sp>
      <p:pic>
        <p:nvPicPr>
          <p:cNvPr id="19" name="Picture 18" descr="A black and white logo&#10;&#10;AI-generated content may be incorrect.">
            <a:extLst>
              <a:ext uri="{FF2B5EF4-FFF2-40B4-BE49-F238E27FC236}">
                <a16:creationId xmlns:a16="http://schemas.microsoft.com/office/drawing/2014/main" xmlns="" id="{560DDD64-AEEA-622F-CBCF-72DC3D60E208}"/>
              </a:ext>
            </a:extLst>
          </p:cNvPr>
          <p:cNvPicPr>
            <a:picLocks noChangeAspect="1"/>
          </p:cNvPicPr>
          <p:nvPr/>
        </p:nvPicPr>
        <p:blipFill>
          <a:blip r:embed="rId2"/>
          <a:stretch>
            <a:fillRect/>
          </a:stretch>
        </p:blipFill>
        <p:spPr>
          <a:xfrm>
            <a:off x="10661671" y="6851"/>
            <a:ext cx="1369645" cy="664793"/>
          </a:xfrm>
          <a:prstGeom prst="rect">
            <a:avLst/>
          </a:prstGeom>
        </p:spPr>
      </p:pic>
      <p:sp>
        <p:nvSpPr>
          <p:cNvPr id="3" name="Content Placeholder 2"/>
          <p:cNvSpPr>
            <a:spLocks noGrp="1"/>
          </p:cNvSpPr>
          <p:nvPr>
            <p:ph idx="1"/>
          </p:nvPr>
        </p:nvSpPr>
        <p:spPr/>
        <p:txBody>
          <a:bodyPr>
            <a:normAutofit fontScale="92500" lnSpcReduction="10000"/>
          </a:bodyPr>
          <a:lstStyle/>
          <a:p>
            <a:r>
              <a:rPr lang="en-US" dirty="0"/>
              <a:t>Design Thinking is a </a:t>
            </a:r>
            <a:r>
              <a:rPr lang="en-US" b="1" dirty="0"/>
              <a:t>human-centered, iterative problem-solving approach</a:t>
            </a:r>
            <a:r>
              <a:rPr lang="en-US" dirty="0"/>
              <a:t> that emphasizes empathy, creativity, and experimentation. </a:t>
            </a:r>
            <a:endParaRPr lang="en-US" dirty="0" smtClean="0"/>
          </a:p>
          <a:p>
            <a:r>
              <a:rPr lang="en-US" dirty="0" smtClean="0"/>
              <a:t>It </a:t>
            </a:r>
            <a:r>
              <a:rPr lang="en-US" dirty="0"/>
              <a:t>is widely used in </a:t>
            </a:r>
            <a:r>
              <a:rPr lang="en-US" b="1" dirty="0"/>
              <a:t>innovation, product design, business strategy, and social impact projects</a:t>
            </a:r>
            <a:r>
              <a:rPr lang="en-US" dirty="0"/>
              <a:t> to develop solutions that effectively address user needs.</a:t>
            </a:r>
          </a:p>
          <a:p>
            <a:r>
              <a:rPr lang="en-US" b="1" dirty="0"/>
              <a:t>Why Use Design Thinking?</a:t>
            </a:r>
            <a:endParaRPr lang="en-US" dirty="0"/>
          </a:p>
          <a:p>
            <a:pPr lvl="0"/>
            <a:r>
              <a:rPr lang="en-US" b="1" dirty="0"/>
              <a:t>Encourages innovation</a:t>
            </a:r>
            <a:r>
              <a:rPr lang="en-US" dirty="0"/>
              <a:t> by shifting the focus to user needs.</a:t>
            </a:r>
          </a:p>
          <a:p>
            <a:pPr lvl="0"/>
            <a:r>
              <a:rPr lang="en-US" b="1" dirty="0"/>
              <a:t>Reduces risk</a:t>
            </a:r>
            <a:r>
              <a:rPr lang="en-US" dirty="0"/>
              <a:t> by testing ideas before full-scale implementation.</a:t>
            </a:r>
          </a:p>
          <a:p>
            <a:pPr lvl="0"/>
            <a:r>
              <a:rPr lang="en-US" b="1" dirty="0"/>
              <a:t>Improves customer experience</a:t>
            </a:r>
            <a:r>
              <a:rPr lang="en-US" dirty="0"/>
              <a:t> by developing user-friendly solutions.</a:t>
            </a:r>
          </a:p>
          <a:p>
            <a:pPr lvl="0"/>
            <a:r>
              <a:rPr lang="en-US" b="1" dirty="0"/>
              <a:t>Fosters a culture of experimentation</a:t>
            </a:r>
            <a:r>
              <a:rPr lang="en-US" dirty="0"/>
              <a:t> in organizations</a:t>
            </a:r>
            <a:r>
              <a:rPr lang="en-US" dirty="0" smtClean="0"/>
              <a:t>.</a:t>
            </a:r>
            <a:endParaRPr lang="en-US" dirty="0"/>
          </a:p>
        </p:txBody>
      </p:sp>
    </p:spTree>
    <p:extLst>
      <p:ext uri="{BB962C8B-B14F-4D97-AF65-F5344CB8AC3E}">
        <p14:creationId xmlns:p14="http://schemas.microsoft.com/office/powerpoint/2010/main" val="315045097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CD4705F-2C82-0476-F7DF-0AB108ADA0D3}"/>
              </a:ext>
            </a:extLst>
          </p:cNvPr>
          <p:cNvSpPr>
            <a:spLocks noGrp="1"/>
          </p:cNvSpPr>
          <p:nvPr>
            <p:ph type="title"/>
          </p:nvPr>
        </p:nvSpPr>
        <p:spPr/>
        <p:txBody>
          <a:bodyPr/>
          <a:lstStyle/>
          <a:p>
            <a:r>
              <a:rPr lang="en-IN" b="1" dirty="0"/>
              <a:t>The Importance of Design Thinking</a:t>
            </a:r>
            <a:endParaRPr lang="en-US" b="1" dirty="0"/>
          </a:p>
        </p:txBody>
      </p:sp>
      <p:sp>
        <p:nvSpPr>
          <p:cNvPr id="3" name="Content Placeholder 2">
            <a:extLst>
              <a:ext uri="{FF2B5EF4-FFF2-40B4-BE49-F238E27FC236}">
                <a16:creationId xmlns:a16="http://schemas.microsoft.com/office/drawing/2014/main" xmlns="" id="{464289A3-211E-6530-B1C9-F4BEF80F77D1}"/>
              </a:ext>
            </a:extLst>
          </p:cNvPr>
          <p:cNvSpPr>
            <a:spLocks noGrp="1"/>
          </p:cNvSpPr>
          <p:nvPr>
            <p:ph idx="1"/>
          </p:nvPr>
        </p:nvSpPr>
        <p:spPr/>
        <p:txBody>
          <a:bodyPr vert="horz" lIns="91440" tIns="45720" rIns="91440" bIns="45720" rtlCol="0" anchor="t">
            <a:normAutofit fontScale="77500" lnSpcReduction="20000"/>
          </a:bodyPr>
          <a:lstStyle/>
          <a:p>
            <a:r>
              <a:rPr lang="en-IN" dirty="0"/>
              <a:t>Design Thinking is crucial in today’s world because it offers a </a:t>
            </a:r>
            <a:r>
              <a:rPr lang="en-IN" b="1" dirty="0"/>
              <a:t>structured yet flexible approach</a:t>
            </a:r>
            <a:r>
              <a:rPr lang="en-IN" dirty="0"/>
              <a:t> to problem-solving. </a:t>
            </a:r>
            <a:endParaRPr lang="en-IN" dirty="0" smtClean="0"/>
          </a:p>
          <a:p>
            <a:r>
              <a:rPr lang="en-IN" dirty="0" smtClean="0"/>
              <a:t>It </a:t>
            </a:r>
            <a:r>
              <a:rPr lang="en-IN" dirty="0"/>
              <a:t>helps organizations </a:t>
            </a:r>
            <a:r>
              <a:rPr lang="en-IN" b="1" dirty="0"/>
              <a:t>innovate, improve customer experiences, and develop user-</a:t>
            </a:r>
            <a:r>
              <a:rPr lang="en-IN" b="1" dirty="0" err="1"/>
              <a:t>centered</a:t>
            </a:r>
            <a:r>
              <a:rPr lang="en-IN" b="1" dirty="0"/>
              <a:t> solutions</a:t>
            </a:r>
            <a:r>
              <a:rPr lang="en-IN" dirty="0"/>
              <a:t> by combining creativity with analytical reasoning</a:t>
            </a:r>
            <a:r>
              <a:rPr lang="en-IN" dirty="0" smtClean="0"/>
              <a:t>.</a:t>
            </a:r>
          </a:p>
          <a:p>
            <a:r>
              <a:rPr lang="en-US" b="1" dirty="0"/>
              <a:t>The Five Stages of Design Thinking (as per the Stanford </a:t>
            </a:r>
            <a:r>
              <a:rPr lang="en-US" b="1" dirty="0" err="1"/>
              <a:t>d.school</a:t>
            </a:r>
            <a:r>
              <a:rPr lang="en-US" b="1" dirty="0"/>
              <a:t> model)</a:t>
            </a:r>
          </a:p>
          <a:p>
            <a:r>
              <a:rPr lang="en-US" b="1" dirty="0"/>
              <a:t>Empathize:</a:t>
            </a:r>
            <a:r>
              <a:rPr lang="en-US" dirty="0"/>
              <a:t> Understand the users by observing, engaging, and immersing in their experiences.</a:t>
            </a:r>
          </a:p>
          <a:p>
            <a:r>
              <a:rPr lang="en-US" b="1" dirty="0"/>
              <a:t>Define:</a:t>
            </a:r>
            <a:r>
              <a:rPr lang="en-US" dirty="0"/>
              <a:t> Clearly articulate the problem statement based on insights gathered.</a:t>
            </a:r>
          </a:p>
          <a:p>
            <a:r>
              <a:rPr lang="en-US" b="1" dirty="0"/>
              <a:t>Ideate:</a:t>
            </a:r>
            <a:r>
              <a:rPr lang="en-US" dirty="0"/>
              <a:t> Brainstorm a wide range of creative solutions without judgment.</a:t>
            </a:r>
          </a:p>
          <a:p>
            <a:r>
              <a:rPr lang="en-US" b="1" dirty="0"/>
              <a:t>Prototype:</a:t>
            </a:r>
            <a:r>
              <a:rPr lang="en-US" dirty="0"/>
              <a:t> Build tangible representations (mockups, wireframes, models) of ideas for testing.</a:t>
            </a:r>
          </a:p>
          <a:p>
            <a:r>
              <a:rPr lang="en-US" b="1" dirty="0"/>
              <a:t>Test:</a:t>
            </a:r>
            <a:r>
              <a:rPr lang="en-US" dirty="0"/>
              <a:t> Gather feedback from users to refine and improve solutions</a:t>
            </a:r>
            <a:r>
              <a:rPr lang="en-US" dirty="0" smtClean="0"/>
              <a:t>.</a:t>
            </a:r>
            <a:endParaRPr lang="en-IN" dirty="0" smtClean="0"/>
          </a:p>
          <a:p>
            <a:endParaRPr lang="en-IN" dirty="0" smtClean="0"/>
          </a:p>
          <a:p>
            <a:endParaRPr lang="en-US" dirty="0">
              <a:solidFill>
                <a:schemeClr val="dk1"/>
              </a:solidFill>
              <a:latin typeface="Times New Roman"/>
              <a:cs typeface="Times New Roman"/>
            </a:endParaRPr>
          </a:p>
        </p:txBody>
      </p:sp>
      <p:pic>
        <p:nvPicPr>
          <p:cNvPr id="5" name="Picture 4" descr="A black and white logo&#10;&#10;AI-generated content may be incorrect.">
            <a:extLst>
              <a:ext uri="{FF2B5EF4-FFF2-40B4-BE49-F238E27FC236}">
                <a16:creationId xmlns:a16="http://schemas.microsoft.com/office/drawing/2014/main" xmlns="" id="{09C1C184-83A7-A13D-F566-253AABCFFFF6}"/>
              </a:ext>
            </a:extLst>
          </p:cNvPr>
          <p:cNvPicPr>
            <a:picLocks noChangeAspect="1"/>
          </p:cNvPicPr>
          <p:nvPr/>
        </p:nvPicPr>
        <p:blipFill>
          <a:blip r:embed="rId2"/>
          <a:stretch>
            <a:fillRect/>
          </a:stretch>
        </p:blipFill>
        <p:spPr>
          <a:xfrm>
            <a:off x="10661671" y="6851"/>
            <a:ext cx="1369645" cy="664793"/>
          </a:xfrm>
          <a:prstGeom prst="rect">
            <a:avLst/>
          </a:prstGeom>
        </p:spPr>
      </p:pic>
    </p:spTree>
    <p:extLst>
      <p:ext uri="{BB962C8B-B14F-4D97-AF65-F5344CB8AC3E}">
        <p14:creationId xmlns:p14="http://schemas.microsoft.com/office/powerpoint/2010/main" val="27432872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smtClean="0"/>
              <a:t>1. Human-</a:t>
            </a:r>
            <a:r>
              <a:rPr lang="en-IN" dirty="0" err="1" smtClean="0"/>
              <a:t>Centered</a:t>
            </a:r>
            <a:r>
              <a:rPr lang="en-IN" dirty="0" smtClean="0"/>
              <a:t> </a:t>
            </a:r>
            <a:r>
              <a:rPr lang="en-IN" dirty="0"/>
              <a:t>Problem-Solving</a:t>
            </a:r>
            <a:endParaRPr lang="en-US" dirty="0">
              <a:latin typeface="Times New Roman"/>
              <a:cs typeface="Times New Roman"/>
            </a:endParaRPr>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fontScale="92500" lnSpcReduction="10000"/>
          </a:bodyPr>
          <a:lstStyle/>
          <a:p>
            <a:pPr marL="0" indent="0">
              <a:buNone/>
            </a:pPr>
            <a:r>
              <a:rPr lang="en-IN" dirty="0"/>
              <a:t>Design Thinking prioritizes </a:t>
            </a:r>
            <a:r>
              <a:rPr lang="en-IN" b="1" dirty="0"/>
              <a:t>empathy and deep understanding</a:t>
            </a:r>
            <a:r>
              <a:rPr lang="en-IN" dirty="0"/>
              <a:t> of users' needs, desires, and pain points. </a:t>
            </a:r>
            <a:endParaRPr lang="en-IN" dirty="0" smtClean="0"/>
          </a:p>
          <a:p>
            <a:pPr marL="0" indent="0">
              <a:buNone/>
            </a:pPr>
            <a:r>
              <a:rPr lang="en-IN" dirty="0" smtClean="0"/>
              <a:t>Unlike </a:t>
            </a:r>
            <a:r>
              <a:rPr lang="en-IN" dirty="0"/>
              <a:t>traditional problem-solving approaches that focus solely on business or technical feasibility, Design Thinking starts with the </a:t>
            </a:r>
            <a:r>
              <a:rPr lang="en-IN" b="1" dirty="0"/>
              <a:t>human perspective</a:t>
            </a:r>
            <a:r>
              <a:rPr lang="en-IN" dirty="0"/>
              <a:t> and ensures that solutions are relevant, accessible, and beneficial</a:t>
            </a:r>
            <a:r>
              <a:rPr lang="en-IN" dirty="0" smtClean="0"/>
              <a:t>.</a:t>
            </a:r>
          </a:p>
          <a:p>
            <a:r>
              <a:rPr lang="en-IN" b="1" dirty="0"/>
              <a:t>Example:</a:t>
            </a:r>
            <a:endParaRPr lang="en-US" b="1" dirty="0"/>
          </a:p>
          <a:p>
            <a:r>
              <a:rPr lang="en-IN" dirty="0"/>
              <a:t>Companies like Apple and Airbnb have successfully used Design Thinking to create products and services that resonate with users. Apple’s focus on seamless user experience has led to intuitive devices, while Airbnb redefined the hospitality industry by focusing on </a:t>
            </a:r>
            <a:r>
              <a:rPr lang="en-IN" b="1" dirty="0"/>
              <a:t>user trust and convenience</a:t>
            </a:r>
            <a:r>
              <a:rPr lang="en-IN" dirty="0"/>
              <a:t>.</a:t>
            </a:r>
            <a:endParaRPr lang="en-US" dirty="0"/>
          </a:p>
          <a:p>
            <a:pPr marL="0" indent="0">
              <a:buNone/>
            </a:pPr>
            <a:endParaRPr lang="en-US" dirty="0"/>
          </a:p>
          <a:p>
            <a:pPr marL="0" indent="0">
              <a:buNone/>
            </a:pPr>
            <a:endParaRPr lang="en-US" dirty="0">
              <a:solidFill>
                <a:srgbClr val="273239"/>
              </a:solidFill>
              <a:latin typeface="Times New Roman"/>
              <a:ea typeface="+mn-lt"/>
              <a:cs typeface="+mn-lt"/>
            </a:endParaRPr>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4281300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smtClean="0"/>
              <a:t>2. Encourages </a:t>
            </a:r>
            <a:r>
              <a:rPr lang="en-IN" dirty="0"/>
              <a:t>Innovation and Creativity</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lnSpcReduction="10000"/>
          </a:bodyPr>
          <a:lstStyle/>
          <a:p>
            <a:r>
              <a:rPr lang="en-IN" dirty="0"/>
              <a:t>Rather than relying on conventional methods, Design Thinking </a:t>
            </a:r>
            <a:r>
              <a:rPr lang="en-IN" b="1" dirty="0"/>
              <a:t>promotes out-of-the-box thinking</a:t>
            </a:r>
            <a:r>
              <a:rPr lang="en-IN" dirty="0"/>
              <a:t>. </a:t>
            </a:r>
            <a:endParaRPr lang="en-IN" dirty="0" smtClean="0"/>
          </a:p>
          <a:p>
            <a:r>
              <a:rPr lang="en-IN" dirty="0" smtClean="0"/>
              <a:t>It </a:t>
            </a:r>
            <a:r>
              <a:rPr lang="en-IN" dirty="0"/>
              <a:t>encourages teams to </a:t>
            </a:r>
            <a:r>
              <a:rPr lang="en-IN" b="1" dirty="0"/>
              <a:t>explore multiple perspectives</a:t>
            </a:r>
            <a:r>
              <a:rPr lang="en-IN" dirty="0"/>
              <a:t>, brainstorm ideas freely, and test unconventional solutions before finalizing an approach.</a:t>
            </a:r>
            <a:endParaRPr lang="en-US" dirty="0"/>
          </a:p>
          <a:p>
            <a:r>
              <a:rPr lang="en-IN" b="1" dirty="0"/>
              <a:t>Example:</a:t>
            </a:r>
            <a:endParaRPr lang="en-US" b="1" dirty="0"/>
          </a:p>
          <a:p>
            <a:r>
              <a:rPr lang="en-IN" dirty="0"/>
              <a:t>IDEO, a leading design consultancy, used Design Thinking to reinvent medical equipment, such as an </a:t>
            </a:r>
            <a:r>
              <a:rPr lang="en-IN" b="1" dirty="0"/>
              <a:t>improved MRI machine</a:t>
            </a:r>
            <a:r>
              <a:rPr lang="en-IN" dirty="0"/>
              <a:t> for children. By </a:t>
            </a:r>
            <a:r>
              <a:rPr lang="en-IN" b="1" dirty="0"/>
              <a:t>understanding the fear children feel</a:t>
            </a:r>
            <a:r>
              <a:rPr lang="en-IN" dirty="0"/>
              <a:t> during MRI scans, they redesigned the experience into a </a:t>
            </a:r>
            <a:r>
              <a:rPr lang="en-IN" b="1" dirty="0"/>
              <a:t>playful adventure</a:t>
            </a:r>
            <a:r>
              <a:rPr lang="en-IN" dirty="0"/>
              <a:t> with storytelling elements, reducing anxiety.</a:t>
            </a:r>
            <a:endParaRPr lang="en-US" dirty="0"/>
          </a:p>
          <a:p>
            <a:pPr marL="0" indent="0">
              <a:buNone/>
            </a:pPr>
            <a:endParaRPr lang="en-IN"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684461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pPr lvl="0"/>
            <a:r>
              <a:rPr lang="en-IN" dirty="0" smtClean="0"/>
              <a:t>3. </a:t>
            </a:r>
            <a:r>
              <a:rPr lang="en-IN" dirty="0"/>
              <a:t>Reduces Risks and Costs</a:t>
            </a:r>
            <a:endParaRPr lang="en-US"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a:xfrm>
            <a:off x="838200" y="1579966"/>
            <a:ext cx="10515600" cy="4351338"/>
          </a:xfrm>
        </p:spPr>
        <p:txBody>
          <a:bodyPr vert="horz" lIns="91440" tIns="45720" rIns="91440" bIns="45720" rtlCol="0" anchor="t">
            <a:normAutofit/>
          </a:bodyPr>
          <a:lstStyle/>
          <a:p>
            <a:r>
              <a:rPr lang="en-IN" dirty="0"/>
              <a:t>By focusing on rapid prototyping and testing, Design Thinking </a:t>
            </a:r>
            <a:r>
              <a:rPr lang="en-IN" b="1" dirty="0"/>
              <a:t>identifies potential failures early</a:t>
            </a:r>
            <a:r>
              <a:rPr lang="en-IN" dirty="0"/>
              <a:t>, preventing costly mistakes during large-scale implementation. </a:t>
            </a:r>
            <a:endParaRPr lang="en-IN" dirty="0" smtClean="0"/>
          </a:p>
          <a:p>
            <a:r>
              <a:rPr lang="en-IN" dirty="0" smtClean="0"/>
              <a:t>It </a:t>
            </a:r>
            <a:r>
              <a:rPr lang="en-IN" dirty="0"/>
              <a:t>ensures that only </a:t>
            </a:r>
            <a:r>
              <a:rPr lang="en-IN" b="1" dirty="0"/>
              <a:t>validated solutions</a:t>
            </a:r>
            <a:r>
              <a:rPr lang="en-IN" dirty="0"/>
              <a:t> reach the market, saving businesses both time and money.</a:t>
            </a:r>
            <a:endParaRPr lang="en-US" dirty="0"/>
          </a:p>
          <a:p>
            <a:r>
              <a:rPr lang="en-IN" b="1" dirty="0"/>
              <a:t>Example:</a:t>
            </a:r>
            <a:endParaRPr lang="en-US" b="1" dirty="0"/>
          </a:p>
          <a:p>
            <a:r>
              <a:rPr lang="en-IN" dirty="0"/>
              <a:t>Before launching the </a:t>
            </a:r>
            <a:r>
              <a:rPr lang="en-IN" b="1" dirty="0"/>
              <a:t>first iPod</a:t>
            </a:r>
            <a:r>
              <a:rPr lang="en-IN" dirty="0"/>
              <a:t>, Apple conducted multiple design iterations to refine usability. This </a:t>
            </a:r>
            <a:r>
              <a:rPr lang="en-IN" b="1" dirty="0"/>
              <a:t>iterative process</a:t>
            </a:r>
            <a:r>
              <a:rPr lang="en-IN" dirty="0"/>
              <a:t> minimized risks and contributed to the product’s massive success</a:t>
            </a:r>
            <a:r>
              <a:rPr lang="en-IN" dirty="0" smtClean="0"/>
              <a:t>.</a:t>
            </a:r>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78782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a:t>4. Fosters Collaboration Across Disciplines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a:bodyPr>
          <a:lstStyle/>
          <a:p>
            <a:r>
              <a:rPr lang="en-IN" dirty="0"/>
              <a:t>Design Thinking breaks down </a:t>
            </a:r>
            <a:r>
              <a:rPr lang="en-IN" b="1" dirty="0"/>
              <a:t>organizational silos</a:t>
            </a:r>
            <a:r>
              <a:rPr lang="en-IN" dirty="0"/>
              <a:t> by bringing together people from diverse backgrounds—engineers, designers, marketers, business strategists, etc. </a:t>
            </a:r>
            <a:endParaRPr lang="en-IN" dirty="0" smtClean="0"/>
          </a:p>
          <a:p>
            <a:r>
              <a:rPr lang="en-IN" dirty="0" smtClean="0"/>
              <a:t>This </a:t>
            </a:r>
            <a:r>
              <a:rPr lang="en-IN" dirty="0"/>
              <a:t>cross-functional collaboration </a:t>
            </a:r>
            <a:r>
              <a:rPr lang="en-IN" b="1" dirty="0"/>
              <a:t>enhances problem-solving</a:t>
            </a:r>
            <a:r>
              <a:rPr lang="en-IN" dirty="0"/>
              <a:t> by incorporating different viewpoints and expertise.</a:t>
            </a:r>
            <a:endParaRPr lang="en-US" dirty="0"/>
          </a:p>
          <a:p>
            <a:r>
              <a:rPr lang="en-IN" b="1" dirty="0"/>
              <a:t>Example:</a:t>
            </a:r>
            <a:endParaRPr lang="en-US" b="1" dirty="0"/>
          </a:p>
          <a:p>
            <a:r>
              <a:rPr lang="en-IN" dirty="0"/>
              <a:t>In healthcare, hospitals use Design Thinking by involving </a:t>
            </a:r>
            <a:r>
              <a:rPr lang="en-IN" b="1" dirty="0"/>
              <a:t>doctors, nurses, patients, and administrators</a:t>
            </a:r>
            <a:r>
              <a:rPr lang="en-IN" dirty="0"/>
              <a:t> to develop better patient-care solutions, ensuring all perspectives are considered.</a:t>
            </a:r>
            <a:endParaRPr lang="en-US" dirty="0"/>
          </a:p>
          <a:p>
            <a:pPr lvl="0"/>
            <a:endParaRPr lang="en-IN" dirty="0" smtClean="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0651765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pPr lvl="0"/>
            <a:r>
              <a:rPr lang="en-IN" dirty="0"/>
              <a:t>5. Enhances Customer Experience and Satisfaction</a:t>
            </a:r>
            <a:endParaRPr lang="en-US"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a:bodyPr>
          <a:lstStyle/>
          <a:p>
            <a:r>
              <a:rPr lang="en-IN" dirty="0"/>
              <a:t>Design Thinking leads to products and services that </a:t>
            </a:r>
            <a:r>
              <a:rPr lang="en-IN" b="1" dirty="0"/>
              <a:t>genuinely meet user expectations</a:t>
            </a:r>
            <a:r>
              <a:rPr lang="en-IN" dirty="0"/>
              <a:t>, enhancing customer satisfaction and loyalty. </a:t>
            </a:r>
            <a:endParaRPr lang="en-IN" dirty="0" smtClean="0"/>
          </a:p>
          <a:p>
            <a:r>
              <a:rPr lang="en-IN" dirty="0" smtClean="0"/>
              <a:t>By </a:t>
            </a:r>
            <a:r>
              <a:rPr lang="en-IN" dirty="0"/>
              <a:t>observing how people </a:t>
            </a:r>
            <a:r>
              <a:rPr lang="en-IN" b="1" dirty="0"/>
              <a:t>interact with products and services</a:t>
            </a:r>
            <a:r>
              <a:rPr lang="en-IN" dirty="0"/>
              <a:t>, companies can refine experiences to make them more intuitive, enjoyable, and meaningful.</a:t>
            </a:r>
            <a:endParaRPr lang="en-US" dirty="0"/>
          </a:p>
          <a:p>
            <a:r>
              <a:rPr lang="en-IN" b="1" dirty="0"/>
              <a:t>Example:</a:t>
            </a:r>
            <a:endParaRPr lang="en-US" b="1" dirty="0"/>
          </a:p>
          <a:p>
            <a:r>
              <a:rPr lang="en-IN" dirty="0"/>
              <a:t>Nike’s </a:t>
            </a:r>
            <a:r>
              <a:rPr lang="en-IN" b="1" dirty="0"/>
              <a:t>self-lacing shoes</a:t>
            </a:r>
            <a:r>
              <a:rPr lang="en-IN" dirty="0"/>
              <a:t> were inspired by users with disabilities who struggled with traditional shoelaces. By understanding their challenges, Nike developed an </a:t>
            </a:r>
            <a:r>
              <a:rPr lang="en-IN" b="1" dirty="0"/>
              <a:t>innovative and inclusive product</a:t>
            </a:r>
            <a:r>
              <a:rPr lang="en-IN" dirty="0"/>
              <a:t>.</a:t>
            </a:r>
            <a:endParaRPr lang="en-US" dirty="0"/>
          </a:p>
          <a:p>
            <a:pPr lvl="0"/>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853284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a:t>6. Supports Business Growth and Competitive Advantage</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a:bodyPr>
          <a:lstStyle/>
          <a:p>
            <a:r>
              <a:rPr lang="en-IN" dirty="0"/>
              <a:t>Companies that adopt Design Thinking tend to </a:t>
            </a:r>
            <a:r>
              <a:rPr lang="en-IN" b="1" dirty="0"/>
              <a:t>outperform competitors</a:t>
            </a:r>
            <a:r>
              <a:rPr lang="en-IN" dirty="0"/>
              <a:t> by consistently delivering better solutions. </a:t>
            </a:r>
            <a:endParaRPr lang="en-IN" dirty="0" smtClean="0"/>
          </a:p>
          <a:p>
            <a:r>
              <a:rPr lang="en-IN" dirty="0" smtClean="0"/>
              <a:t>It </a:t>
            </a:r>
            <a:r>
              <a:rPr lang="en-IN" dirty="0"/>
              <a:t>allows businesses to </a:t>
            </a:r>
            <a:r>
              <a:rPr lang="en-IN" b="1" dirty="0"/>
              <a:t>stay ahead of market trends</a:t>
            </a:r>
            <a:r>
              <a:rPr lang="en-IN" dirty="0"/>
              <a:t>, adapt to changing customer preferences, and create long-term value.</a:t>
            </a:r>
            <a:endParaRPr lang="en-US" dirty="0"/>
          </a:p>
          <a:p>
            <a:r>
              <a:rPr lang="en-IN" b="1" dirty="0"/>
              <a:t>Example:</a:t>
            </a:r>
            <a:endParaRPr lang="en-US" b="1" dirty="0"/>
          </a:p>
          <a:p>
            <a:r>
              <a:rPr lang="en-IN" dirty="0"/>
              <a:t>Netflix revolutionized entertainment by </a:t>
            </a:r>
            <a:r>
              <a:rPr lang="en-IN" b="1" dirty="0"/>
              <a:t>observing user </a:t>
            </a:r>
            <a:r>
              <a:rPr lang="en-IN" b="1" dirty="0" err="1"/>
              <a:t>behavior</a:t>
            </a:r>
            <a:r>
              <a:rPr lang="en-IN" dirty="0"/>
              <a:t> and shifting from DVD rentals to streaming. Their </a:t>
            </a:r>
            <a:r>
              <a:rPr lang="en-IN" b="1" dirty="0"/>
              <a:t>continuous experimentation with algorithms</a:t>
            </a:r>
            <a:r>
              <a:rPr lang="en-IN" dirty="0"/>
              <a:t> to personalize recommendations further solidified their competitive edge.</a:t>
            </a:r>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6050942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a:t>7. Applicable to Any Industry</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fontScale="92500"/>
          </a:bodyPr>
          <a:lstStyle/>
          <a:p>
            <a:r>
              <a:rPr lang="en-IN" dirty="0"/>
              <a:t>While commonly associated with product design, Design Thinking applies to </a:t>
            </a:r>
            <a:r>
              <a:rPr lang="en-IN" b="1" dirty="0"/>
              <a:t>various industries</a:t>
            </a:r>
            <a:r>
              <a:rPr lang="en-IN" dirty="0"/>
              <a:t>, including business strategy, education, healthcare, finance, and social impact initiatives.</a:t>
            </a:r>
            <a:endParaRPr lang="en-US" dirty="0"/>
          </a:p>
          <a:p>
            <a:r>
              <a:rPr lang="en-IN" b="1" dirty="0"/>
              <a:t>Example:</a:t>
            </a:r>
            <a:endParaRPr lang="en-US" b="1" dirty="0"/>
          </a:p>
          <a:p>
            <a:pPr lvl="0"/>
            <a:r>
              <a:rPr lang="en-IN" b="1" dirty="0"/>
              <a:t>Education:</a:t>
            </a:r>
            <a:r>
              <a:rPr lang="en-IN" dirty="0"/>
              <a:t> Schools use Design Thinking to redesign classrooms for better student engagement.</a:t>
            </a:r>
            <a:endParaRPr lang="en-US" dirty="0"/>
          </a:p>
          <a:p>
            <a:pPr lvl="0"/>
            <a:r>
              <a:rPr lang="en-IN" b="1" dirty="0"/>
              <a:t>Finance:</a:t>
            </a:r>
            <a:r>
              <a:rPr lang="en-IN" dirty="0"/>
              <a:t> Banks improve mobile banking interfaces by considering user feedback.</a:t>
            </a:r>
            <a:endParaRPr lang="en-US" dirty="0"/>
          </a:p>
          <a:p>
            <a:pPr lvl="0"/>
            <a:r>
              <a:rPr lang="en-IN" b="1" dirty="0"/>
              <a:t>Social Impact:</a:t>
            </a:r>
            <a:r>
              <a:rPr lang="en-IN" dirty="0"/>
              <a:t> NGOs create </a:t>
            </a:r>
            <a:r>
              <a:rPr lang="en-IN" b="1" dirty="0"/>
              <a:t>sustainable solutions</a:t>
            </a:r>
            <a:r>
              <a:rPr lang="en-IN" dirty="0"/>
              <a:t> for global challenges like clean water access and affordable housing.</a:t>
            </a:r>
            <a:endParaRPr lang="en-US" dirty="0"/>
          </a:p>
          <a:p>
            <a:endParaRPr lang="en-IN"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7235084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b="1" dirty="0"/>
              <a:t>The History of Design Thinking</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fontScale="92500" lnSpcReduction="10000"/>
          </a:bodyPr>
          <a:lstStyle/>
          <a:p>
            <a:r>
              <a:rPr lang="en-IN" dirty="0"/>
              <a:t>Design Thinking has evolved over decades, drawing from multiple disciplines such as </a:t>
            </a:r>
            <a:r>
              <a:rPr lang="en-IN" b="1" dirty="0"/>
              <a:t>engineering, psychology, architecture, and business strategy</a:t>
            </a:r>
            <a:r>
              <a:rPr lang="en-IN" dirty="0"/>
              <a:t>. </a:t>
            </a:r>
            <a:endParaRPr lang="en-US" dirty="0"/>
          </a:p>
          <a:p>
            <a:r>
              <a:rPr lang="en-IN" dirty="0"/>
              <a:t>1. Early Foundations (Pre-20th Century – 1950s)</a:t>
            </a:r>
            <a:endParaRPr lang="en-US" b="1" dirty="0"/>
          </a:p>
          <a:p>
            <a:pPr marL="0" indent="0">
              <a:buNone/>
            </a:pPr>
            <a:r>
              <a:rPr lang="en-IN" dirty="0"/>
              <a:t>The origins of Design Thinking can be traced back to </a:t>
            </a:r>
            <a:r>
              <a:rPr lang="en-IN" b="1" dirty="0"/>
              <a:t>architectural and engineering processes</a:t>
            </a:r>
            <a:r>
              <a:rPr lang="en-IN" dirty="0"/>
              <a:t>, where structured methods were used to </a:t>
            </a:r>
            <a:r>
              <a:rPr lang="en-IN" b="1" dirty="0"/>
              <a:t>solve complex problems</a:t>
            </a:r>
            <a:r>
              <a:rPr lang="en-IN" dirty="0"/>
              <a:t> efficiently</a:t>
            </a:r>
            <a:r>
              <a:rPr lang="en-IN" dirty="0" smtClean="0"/>
              <a:t>.</a:t>
            </a:r>
          </a:p>
          <a:p>
            <a:r>
              <a:rPr lang="en-IN" dirty="0"/>
              <a:t>2. Design Methodology &amp; Systems Thinking (1950s – 1970s)</a:t>
            </a:r>
            <a:endParaRPr lang="en-US" b="1" dirty="0"/>
          </a:p>
          <a:p>
            <a:pPr marL="0" indent="0">
              <a:buNone/>
            </a:pPr>
            <a:r>
              <a:rPr lang="en-IN" dirty="0"/>
              <a:t>By the mid-20th century, researchers in </a:t>
            </a:r>
            <a:r>
              <a:rPr lang="en-IN" b="1" dirty="0"/>
              <a:t>architecture, engineering, and cognitive sciences</a:t>
            </a:r>
            <a:r>
              <a:rPr lang="en-IN" dirty="0"/>
              <a:t> developed systematic design methods that laid the groundwork for modern Design Thinking.</a:t>
            </a:r>
            <a:endParaRPr lang="en-US" dirty="0"/>
          </a:p>
          <a:p>
            <a:pPr marL="0" indent="0">
              <a:buNone/>
            </a:pPr>
            <a:endParaRPr lang="en-US" dirty="0"/>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508048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b="1" dirty="0"/>
              <a:t>The History of Design Thinking</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a:bodyPr>
          <a:lstStyle/>
          <a:p>
            <a:r>
              <a:rPr lang="en-IN" dirty="0"/>
              <a:t>3. Human-</a:t>
            </a:r>
            <a:r>
              <a:rPr lang="en-IN" dirty="0" err="1"/>
              <a:t>Centered</a:t>
            </a:r>
            <a:r>
              <a:rPr lang="en-IN" dirty="0"/>
              <a:t> Design &amp; Rise of Creativity (1980s – 1990s)</a:t>
            </a:r>
            <a:endParaRPr lang="en-US" b="1" dirty="0"/>
          </a:p>
          <a:p>
            <a:pPr marL="0" indent="0">
              <a:buNone/>
            </a:pPr>
            <a:r>
              <a:rPr lang="en-IN" dirty="0"/>
              <a:t>The focus shifted from rigid engineering processes to </a:t>
            </a:r>
            <a:r>
              <a:rPr lang="en-IN" b="1" dirty="0"/>
              <a:t>human-</a:t>
            </a:r>
            <a:r>
              <a:rPr lang="en-IN" b="1" dirty="0" err="1"/>
              <a:t>centered</a:t>
            </a:r>
            <a:r>
              <a:rPr lang="en-IN" b="1" dirty="0"/>
              <a:t> and creative problem-solving approaches</a:t>
            </a:r>
            <a:r>
              <a:rPr lang="en-IN" dirty="0"/>
              <a:t>.</a:t>
            </a:r>
            <a:endParaRPr lang="en-US" dirty="0"/>
          </a:p>
          <a:p>
            <a:r>
              <a:rPr lang="en-IN" dirty="0"/>
              <a:t>4. Mainstream Adoption &amp; Business Integration (2000s – Present)</a:t>
            </a:r>
            <a:endParaRPr lang="en-US" b="1" dirty="0"/>
          </a:p>
          <a:p>
            <a:pPr marL="0" indent="0">
              <a:buNone/>
            </a:pPr>
            <a:r>
              <a:rPr lang="en-IN" dirty="0"/>
              <a:t>During the 21st century, Design Thinking became widely adopted in </a:t>
            </a:r>
            <a:r>
              <a:rPr lang="en-IN" b="1" dirty="0"/>
              <a:t>business strategy, technology, healthcare, education, and social innovation</a:t>
            </a:r>
            <a:r>
              <a:rPr lang="en-IN" dirty="0"/>
              <a:t>.</a:t>
            </a:r>
            <a:endParaRPr lang="en-US" dirty="0"/>
          </a:p>
          <a:p>
            <a:pPr marL="0" indent="0">
              <a:buNone/>
            </a:pPr>
            <a:endParaRPr lang="en-US" dirty="0"/>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6241082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a:t>IBM Design Thinking Framework</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lnSpcReduction="10000"/>
          </a:bodyPr>
          <a:lstStyle/>
          <a:p>
            <a:r>
              <a:rPr lang="en-IN" dirty="0"/>
              <a:t>The </a:t>
            </a:r>
            <a:r>
              <a:rPr lang="en-IN" b="1" dirty="0"/>
              <a:t>IBM Design Thinking Framework</a:t>
            </a:r>
            <a:r>
              <a:rPr lang="en-IN" dirty="0"/>
              <a:t> is a </a:t>
            </a:r>
            <a:r>
              <a:rPr lang="en-IN" b="1" dirty="0"/>
              <a:t>human-</a:t>
            </a:r>
            <a:r>
              <a:rPr lang="en-IN" b="1" dirty="0" err="1"/>
              <a:t>centered</a:t>
            </a:r>
            <a:r>
              <a:rPr lang="en-IN" dirty="0"/>
              <a:t> and </a:t>
            </a:r>
            <a:r>
              <a:rPr lang="en-IN" b="1" dirty="0"/>
              <a:t>collaborative</a:t>
            </a:r>
            <a:r>
              <a:rPr lang="en-IN" dirty="0"/>
              <a:t> approach to solving complex problems. </a:t>
            </a:r>
            <a:endParaRPr lang="en-IN" dirty="0" smtClean="0"/>
          </a:p>
          <a:p>
            <a:r>
              <a:rPr lang="en-IN" dirty="0" smtClean="0"/>
              <a:t>It </a:t>
            </a:r>
            <a:r>
              <a:rPr lang="en-IN" dirty="0"/>
              <a:t>builds upon traditional design thinking methodologies while integrating </a:t>
            </a:r>
            <a:r>
              <a:rPr lang="en-IN" b="1" dirty="0"/>
              <a:t>enterprise scalability</a:t>
            </a:r>
            <a:r>
              <a:rPr lang="en-IN" dirty="0"/>
              <a:t> and </a:t>
            </a:r>
            <a:r>
              <a:rPr lang="en-IN" b="1" dirty="0"/>
              <a:t>agility</a:t>
            </a:r>
            <a:r>
              <a:rPr lang="en-IN" dirty="0"/>
              <a:t> to drive innovation effectively within organizations.</a:t>
            </a:r>
            <a:endParaRPr lang="en-US" dirty="0"/>
          </a:p>
          <a:p>
            <a:r>
              <a:rPr lang="en-IN" dirty="0"/>
              <a:t>This framework helps teams </a:t>
            </a:r>
            <a:r>
              <a:rPr lang="en-IN" b="1" dirty="0"/>
              <a:t>understand user needs deeply, rapidly prototype solutions, and continuously refine them</a:t>
            </a:r>
            <a:r>
              <a:rPr lang="en-IN" dirty="0"/>
              <a:t> through feedback. </a:t>
            </a:r>
            <a:endParaRPr lang="en-IN" dirty="0" smtClean="0"/>
          </a:p>
          <a:p>
            <a:r>
              <a:rPr lang="en-IN" dirty="0" smtClean="0"/>
              <a:t>IBM </a:t>
            </a:r>
            <a:r>
              <a:rPr lang="en-IN" dirty="0"/>
              <a:t>applies this framework across various industries, ensuring that products and services are </a:t>
            </a:r>
            <a:r>
              <a:rPr lang="en-IN" b="1" dirty="0"/>
              <a:t>efficient, user-friendly, and aligned with business goals</a:t>
            </a:r>
            <a:r>
              <a:rPr lang="en-IN" dirty="0"/>
              <a:t>.</a:t>
            </a:r>
            <a:endParaRPr lang="en-US" dirty="0"/>
          </a:p>
          <a:p>
            <a:pPr marL="0" indent="0">
              <a:buNone/>
            </a:pPr>
            <a:endParaRPr lang="en-US" dirty="0"/>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4279848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a:t>How IBM Design Thinking Differs from Traditional Design Thinking</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67299755"/>
              </p:ext>
            </p:extLst>
          </p:nvPr>
        </p:nvGraphicFramePr>
        <p:xfrm>
          <a:off x="838200" y="1869744"/>
          <a:ext cx="10515600" cy="4299045"/>
        </p:xfrm>
        <a:graphic>
          <a:graphicData uri="http://schemas.openxmlformats.org/drawingml/2006/table">
            <a:tbl>
              <a:tblPr firstRow="1" firstCol="1" bandRow="1">
                <a:tableStyleId>{5C22544A-7EE6-4342-B048-85BDC9FD1C3A}</a:tableStyleId>
              </a:tblPr>
              <a:tblGrid>
                <a:gridCol w="3505200"/>
                <a:gridCol w="3505200"/>
                <a:gridCol w="3505200"/>
              </a:tblGrid>
              <a:tr h="619029">
                <a:tc>
                  <a:txBody>
                    <a:bodyPr/>
                    <a:lstStyle/>
                    <a:p>
                      <a:pPr marL="0" marR="0" algn="ctr">
                        <a:lnSpc>
                          <a:spcPct val="107000"/>
                        </a:lnSpc>
                        <a:spcBef>
                          <a:spcPts val="0"/>
                        </a:spcBef>
                        <a:spcAft>
                          <a:spcPts val="800"/>
                        </a:spcAft>
                      </a:pPr>
                      <a:r>
                        <a:rPr lang="en-IN" sz="1400" dirty="0">
                          <a:effectLst/>
                        </a:rPr>
                        <a:t>Feature</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800"/>
                        </a:spcAft>
                      </a:pPr>
                      <a:r>
                        <a:rPr lang="en-IN" sz="1400">
                          <a:effectLst/>
                        </a:rPr>
                        <a:t>Traditional Design Thinking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gn="ctr">
                        <a:lnSpc>
                          <a:spcPct val="107000"/>
                        </a:lnSpc>
                        <a:spcBef>
                          <a:spcPts val="0"/>
                        </a:spcBef>
                        <a:spcAft>
                          <a:spcPts val="800"/>
                        </a:spcAft>
                      </a:pPr>
                      <a:r>
                        <a:rPr lang="en-IN" sz="1400">
                          <a:effectLst/>
                        </a:rPr>
                        <a:t>IBM Design Thinking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619029">
                <a:tc>
                  <a:txBody>
                    <a:bodyPr/>
                    <a:lstStyle/>
                    <a:p>
                      <a:pPr marL="0" marR="0">
                        <a:lnSpc>
                          <a:spcPct val="107000"/>
                        </a:lnSpc>
                        <a:spcBef>
                          <a:spcPts val="0"/>
                        </a:spcBef>
                        <a:spcAft>
                          <a:spcPts val="800"/>
                        </a:spcAft>
                      </a:pPr>
                      <a:r>
                        <a:rPr lang="en-IN" sz="1400" dirty="0">
                          <a:effectLst/>
                        </a:rPr>
                        <a:t>Focus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dirty="0">
                          <a:effectLst/>
                        </a:rPr>
                        <a:t>General problem-solving</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a:effectLst/>
                        </a:rPr>
                        <a:t>User outcomes &amp; enterprise scalability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1203900">
                <a:tc>
                  <a:txBody>
                    <a:bodyPr/>
                    <a:lstStyle/>
                    <a:p>
                      <a:pPr marL="0" marR="0">
                        <a:lnSpc>
                          <a:spcPct val="107000"/>
                        </a:lnSpc>
                        <a:spcBef>
                          <a:spcPts val="0"/>
                        </a:spcBef>
                        <a:spcAft>
                          <a:spcPts val="800"/>
                        </a:spcAft>
                      </a:pPr>
                      <a:r>
                        <a:rPr lang="en-IN" sz="1400">
                          <a:effectLst/>
                        </a:rPr>
                        <a:t>Process</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dirty="0">
                          <a:effectLst/>
                        </a:rPr>
                        <a:t>Linear (Empathize → Define → Ideate → Prototype → Test)</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a:effectLst/>
                        </a:rPr>
                        <a:t>Non-linear, continuous improvement loop</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619029">
                <a:tc>
                  <a:txBody>
                    <a:bodyPr/>
                    <a:lstStyle/>
                    <a:p>
                      <a:pPr marL="0" marR="0">
                        <a:lnSpc>
                          <a:spcPct val="107000"/>
                        </a:lnSpc>
                        <a:spcBef>
                          <a:spcPts val="0"/>
                        </a:spcBef>
                        <a:spcAft>
                          <a:spcPts val="800"/>
                        </a:spcAft>
                      </a:pPr>
                      <a:r>
                        <a:rPr lang="en-IN" sz="1400">
                          <a:effectLst/>
                        </a:rPr>
                        <a:t>Collaboration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dirty="0">
                          <a:effectLst/>
                        </a:rPr>
                        <a:t>Primarily designers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dirty="0">
                          <a:effectLst/>
                        </a:rPr>
                        <a:t>Cross-functional, diverse teams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619029">
                <a:tc>
                  <a:txBody>
                    <a:bodyPr/>
                    <a:lstStyle/>
                    <a:p>
                      <a:pPr marL="0" marR="0">
                        <a:lnSpc>
                          <a:spcPct val="107000"/>
                        </a:lnSpc>
                        <a:spcBef>
                          <a:spcPts val="0"/>
                        </a:spcBef>
                        <a:spcAft>
                          <a:spcPts val="800"/>
                        </a:spcAft>
                      </a:pPr>
                      <a:r>
                        <a:rPr lang="en-IN" sz="1400">
                          <a:effectLst/>
                        </a:rPr>
                        <a:t>User Involvement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a:effectLst/>
                        </a:rPr>
                        <a:t>Occasional user testing</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dirty="0">
                          <a:effectLst/>
                        </a:rPr>
                        <a:t>Continuous user engagement (Sponsor Users)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619029">
                <a:tc>
                  <a:txBody>
                    <a:bodyPr/>
                    <a:lstStyle/>
                    <a:p>
                      <a:pPr marL="0" marR="0">
                        <a:lnSpc>
                          <a:spcPct val="107000"/>
                        </a:lnSpc>
                        <a:spcBef>
                          <a:spcPts val="0"/>
                        </a:spcBef>
                        <a:spcAft>
                          <a:spcPts val="800"/>
                        </a:spcAft>
                      </a:pPr>
                      <a:r>
                        <a:rPr lang="en-IN" sz="1400">
                          <a:effectLst/>
                        </a:rPr>
                        <a:t>Iteration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a:effectLst/>
                        </a:rPr>
                        <a:t>Iteration stops after solution delivery</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07000"/>
                        </a:lnSpc>
                        <a:spcBef>
                          <a:spcPts val="0"/>
                        </a:spcBef>
                        <a:spcAft>
                          <a:spcPts val="800"/>
                        </a:spcAft>
                      </a:pPr>
                      <a:r>
                        <a:rPr lang="en-IN" sz="1400" dirty="0">
                          <a:effectLst/>
                        </a:rPr>
                        <a:t>Continuous reinvention (Restless Reinvention)</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708502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a:t>Benefits of IBM Design Thinking</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a:bodyPr>
          <a:lstStyle/>
          <a:p>
            <a:pPr lvl="0"/>
            <a:endParaRPr lang="en-IN" b="1" dirty="0" smtClean="0"/>
          </a:p>
          <a:p>
            <a:pPr lvl="0"/>
            <a:r>
              <a:rPr lang="en-IN" b="1" dirty="0" smtClean="0"/>
              <a:t>Scales </a:t>
            </a:r>
            <a:r>
              <a:rPr lang="en-IN" b="1" dirty="0"/>
              <a:t>across enterprises</a:t>
            </a:r>
            <a:r>
              <a:rPr lang="en-IN" dirty="0"/>
              <a:t> by ensuring large teams work collaboratively.</a:t>
            </a:r>
            <a:endParaRPr lang="en-US" dirty="0"/>
          </a:p>
          <a:p>
            <a:pPr lvl="0"/>
            <a:r>
              <a:rPr lang="en-IN" b="1" dirty="0"/>
              <a:t>Reduces risk</a:t>
            </a:r>
            <a:r>
              <a:rPr lang="en-IN" dirty="0"/>
              <a:t> by testing ideas early and often.</a:t>
            </a:r>
            <a:endParaRPr lang="en-US" dirty="0"/>
          </a:p>
          <a:p>
            <a:pPr lvl="0"/>
            <a:r>
              <a:rPr lang="en-IN" b="1" dirty="0"/>
              <a:t>Increases efficiency</a:t>
            </a:r>
            <a:r>
              <a:rPr lang="en-IN" dirty="0"/>
              <a:t> through iterative development.</a:t>
            </a:r>
            <a:endParaRPr lang="en-US" dirty="0"/>
          </a:p>
          <a:p>
            <a:pPr lvl="0"/>
            <a:r>
              <a:rPr lang="en-IN" b="1" dirty="0"/>
              <a:t>Boosts innovation</a:t>
            </a:r>
            <a:r>
              <a:rPr lang="en-IN" dirty="0"/>
              <a:t> by bringing in diverse perspectives.</a:t>
            </a:r>
            <a:endParaRPr lang="en-US" dirty="0"/>
          </a:p>
          <a:p>
            <a:pPr lvl="0"/>
            <a:r>
              <a:rPr lang="en-IN" b="1" dirty="0"/>
              <a:t>Creates user-centric solutions</a:t>
            </a:r>
            <a:r>
              <a:rPr lang="en-IN" dirty="0"/>
              <a:t> that deliver real impact.</a:t>
            </a:r>
            <a:endParaRPr lang="en-US" dirty="0"/>
          </a:p>
          <a:p>
            <a:pPr marL="0" indent="0">
              <a:buNone/>
            </a:pPr>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4486660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IN" dirty="0"/>
              <a:t>Real-World Applications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a:bodyPr>
          <a:lstStyle/>
          <a:p>
            <a:pPr marL="0" indent="0">
              <a:buNone/>
            </a:pPr>
            <a:endParaRPr lang="en-IN" dirty="0" smtClean="0"/>
          </a:p>
          <a:p>
            <a:pPr marL="0" indent="0">
              <a:buNone/>
            </a:pPr>
            <a:r>
              <a:rPr lang="en-IN" dirty="0" smtClean="0"/>
              <a:t>IBM </a:t>
            </a:r>
            <a:r>
              <a:rPr lang="en-IN" dirty="0"/>
              <a:t>has successfully implemented this framework in</a:t>
            </a:r>
            <a:r>
              <a:rPr lang="en-IN" dirty="0" smtClean="0"/>
              <a:t>:</a:t>
            </a:r>
          </a:p>
          <a:p>
            <a:pPr marL="0" indent="0">
              <a:buNone/>
            </a:pPr>
            <a:endParaRPr lang="en-US" dirty="0"/>
          </a:p>
          <a:p>
            <a:pPr lvl="0"/>
            <a:r>
              <a:rPr lang="en-IN" b="1" dirty="0"/>
              <a:t>Software &amp; AI development</a:t>
            </a:r>
            <a:r>
              <a:rPr lang="en-IN" dirty="0"/>
              <a:t> (Watson AI, Cloud services)</a:t>
            </a:r>
            <a:endParaRPr lang="en-US" dirty="0"/>
          </a:p>
          <a:p>
            <a:pPr lvl="0"/>
            <a:r>
              <a:rPr lang="en-IN" b="1" dirty="0"/>
              <a:t>Healthcare solutions</a:t>
            </a:r>
            <a:r>
              <a:rPr lang="en-IN" dirty="0"/>
              <a:t> (Improving patient experiences)</a:t>
            </a:r>
            <a:endParaRPr lang="en-US" dirty="0"/>
          </a:p>
          <a:p>
            <a:pPr lvl="0"/>
            <a:r>
              <a:rPr lang="en-IN" b="1" dirty="0"/>
              <a:t>Banking &amp; finance</a:t>
            </a:r>
            <a:r>
              <a:rPr lang="en-IN" dirty="0"/>
              <a:t> (Enhancing digital banking experiences)</a:t>
            </a:r>
            <a:endParaRPr lang="en-US" dirty="0"/>
          </a:p>
          <a:p>
            <a:pPr lvl="0"/>
            <a:r>
              <a:rPr lang="en-IN" b="1" dirty="0"/>
              <a:t>Retail</a:t>
            </a:r>
            <a:r>
              <a:rPr lang="en-IN" dirty="0"/>
              <a:t> (Optimizing e-commerce customer journeys)</a:t>
            </a:r>
            <a:endParaRPr lang="en-US" dirty="0"/>
          </a:p>
          <a:p>
            <a:pPr marL="0" indent="0">
              <a:buNone/>
            </a:pPr>
            <a:endParaRPr lang="en-US" dirty="0"/>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978549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a:t>The Significance of IBM Design Thinking Principles, Loops, and Keys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fontScale="92500"/>
          </a:bodyPr>
          <a:lstStyle/>
          <a:p>
            <a:pPr marL="0" indent="0">
              <a:buNone/>
            </a:pPr>
            <a:r>
              <a:rPr lang="en-US" dirty="0"/>
              <a:t>IBM Design Thinking is a structured yet flexible approach to problem-solving, enabling teams to create user-centric solutions at scale. </a:t>
            </a:r>
            <a:endParaRPr lang="en-US" dirty="0" smtClean="0"/>
          </a:p>
          <a:p>
            <a:pPr marL="0" indent="0">
              <a:buNone/>
            </a:pPr>
            <a:r>
              <a:rPr lang="en-US" dirty="0" smtClean="0"/>
              <a:t>It </a:t>
            </a:r>
            <a:r>
              <a:rPr lang="en-US" dirty="0"/>
              <a:t>is distinct because of its three key components:</a:t>
            </a:r>
          </a:p>
          <a:p>
            <a:r>
              <a:rPr lang="en-US" dirty="0"/>
              <a:t>Principles – The foundational mindset that guides the process. Ensures user focus, continuous improvement, and </a:t>
            </a:r>
            <a:r>
              <a:rPr lang="en-US" dirty="0" smtClean="0"/>
              <a:t>collaboration.</a:t>
            </a:r>
            <a:endParaRPr lang="en-US" dirty="0"/>
          </a:p>
          <a:p>
            <a:r>
              <a:rPr lang="en-US" dirty="0"/>
              <a:t>Loop – The iterative, non-linear framework for solving problems. Helps teams observe, reflect, and improve solutions </a:t>
            </a:r>
            <a:r>
              <a:rPr lang="en-US" dirty="0" smtClean="0"/>
              <a:t>dynamically.</a:t>
            </a:r>
            <a:endParaRPr lang="en-US" dirty="0"/>
          </a:p>
          <a:p>
            <a:r>
              <a:rPr lang="en-US" dirty="0"/>
              <a:t>Keys – The practical mechanisms that ensure alignment, user involvement, and accountability. Keeps teams aligned, user-focused, and </a:t>
            </a:r>
            <a:r>
              <a:rPr lang="en-US" dirty="0" smtClean="0"/>
              <a:t>outcome-driven.</a:t>
            </a:r>
            <a:endParaRPr lang="en-US" dirty="0"/>
          </a:p>
          <a:p>
            <a:pPr marL="0" indent="0">
              <a:buNone/>
            </a:pPr>
            <a:endParaRPr lang="en-US" dirty="0"/>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648112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a:t>Principles: The Foundation</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a:xfrm>
            <a:off x="838200" y="1473958"/>
            <a:ext cx="10515600" cy="4940490"/>
          </a:xfrm>
        </p:spPr>
        <p:txBody>
          <a:bodyPr vert="horz" lIns="91440" tIns="45720" rIns="91440" bIns="45720" rtlCol="0" anchor="t">
            <a:normAutofit fontScale="70000" lnSpcReduction="20000"/>
          </a:bodyPr>
          <a:lstStyle/>
          <a:p>
            <a:r>
              <a:rPr lang="en-US" dirty="0"/>
              <a:t>What are the Principles?</a:t>
            </a:r>
          </a:p>
          <a:p>
            <a:r>
              <a:rPr lang="en-US" dirty="0"/>
              <a:t>IBM Design Thinking is guided by three core principles that shape the way teams work. </a:t>
            </a:r>
            <a:endParaRPr lang="en-US" dirty="0" smtClean="0"/>
          </a:p>
          <a:p>
            <a:r>
              <a:rPr lang="en-US" dirty="0" smtClean="0"/>
              <a:t>These </a:t>
            </a:r>
            <a:r>
              <a:rPr lang="en-US" dirty="0"/>
              <a:t>principles ensure that the design process remains focused on users, adaptable, and inclusive.</a:t>
            </a:r>
          </a:p>
          <a:p>
            <a:r>
              <a:rPr lang="en-US" dirty="0"/>
              <a:t>a) A Focus on User Outcomes</a:t>
            </a:r>
          </a:p>
          <a:p>
            <a:r>
              <a:rPr lang="en-US" dirty="0"/>
              <a:t>📌 Significance:</a:t>
            </a:r>
          </a:p>
          <a:p>
            <a:r>
              <a:rPr lang="en-US" dirty="0"/>
              <a:t>Ensures that design efforts directly impact and benefit users.</a:t>
            </a:r>
          </a:p>
          <a:p>
            <a:r>
              <a:rPr lang="en-US" dirty="0"/>
              <a:t>Moves teams away from feature-driven development and instead emphasizes value-driven solutions.</a:t>
            </a:r>
          </a:p>
          <a:p>
            <a:r>
              <a:rPr lang="en-US" dirty="0"/>
              <a:t>Helps define success not just as project completion but as a measurable improvement in user experience.</a:t>
            </a:r>
          </a:p>
          <a:p>
            <a:r>
              <a:rPr lang="en-US" dirty="0"/>
              <a:t>💡 Example:</a:t>
            </a:r>
          </a:p>
          <a:p>
            <a:r>
              <a:rPr lang="en-US" dirty="0"/>
              <a:t>IBM developed Watson AI for healthcare diagnostics. Instead of focusing on making the AI "smarter," the team focused on reducing misdiagnosis rates and improving patient outcomes. This user-centric approach led to higher adoption rates by doctors and hospitals.</a:t>
            </a:r>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004409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a:t>Principles: The Foundation</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fontScale="92500" lnSpcReduction="20000"/>
          </a:bodyPr>
          <a:lstStyle/>
          <a:p>
            <a:r>
              <a:rPr lang="en-US" dirty="0"/>
              <a:t>b) Restless Reinvention</a:t>
            </a:r>
          </a:p>
          <a:p>
            <a:r>
              <a:rPr lang="en-US" dirty="0"/>
              <a:t>📌 Significance:</a:t>
            </a:r>
          </a:p>
          <a:p>
            <a:r>
              <a:rPr lang="en-US" dirty="0"/>
              <a:t>Encourages continuous iteration rather than treating designs as final.</a:t>
            </a:r>
          </a:p>
          <a:p>
            <a:r>
              <a:rPr lang="en-US" dirty="0"/>
              <a:t>Prevents stagnation by fostering a culture of experimentation and improvement.</a:t>
            </a:r>
          </a:p>
          <a:p>
            <a:r>
              <a:rPr lang="en-US" dirty="0"/>
              <a:t>Supports the adoption of agile methodologies, where products and services evolve with user needs.</a:t>
            </a:r>
          </a:p>
          <a:p>
            <a:r>
              <a:rPr lang="en-US" dirty="0"/>
              <a:t>💡 Example:</a:t>
            </a:r>
          </a:p>
          <a:p>
            <a:r>
              <a:rPr lang="en-US" dirty="0"/>
              <a:t>IBM’s Cloud Computing Services were initially designed for large enterprises. However, by continuously revisiting user needs, IBM expanded its cloud offerings to cater to startups and small businesses, making the service more inclusive and adaptable.</a:t>
            </a:r>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
        <p:nvSpPr>
          <p:cNvPr id="6" name="Content Placeholder 2">
            <a:extLst>
              <a:ext uri="{FF2B5EF4-FFF2-40B4-BE49-F238E27FC236}">
                <a16:creationId xmlns:a16="http://schemas.microsoft.com/office/drawing/2014/main" xmlns="" id="{09E7F86C-8ADF-DFC2-9388-B0DC309DF9D4}"/>
              </a:ext>
            </a:extLst>
          </p:cNvPr>
          <p:cNvSpPr txBox="1">
            <a:spLocks/>
          </p:cNvSpPr>
          <p:nvPr/>
        </p:nvSpPr>
        <p:spPr>
          <a:xfrm>
            <a:off x="838200" y="1690688"/>
            <a:ext cx="10515600" cy="4940490"/>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endParaRPr lang="en-US" dirty="0" smtClean="0"/>
          </a:p>
          <a:p>
            <a:endParaRPr lang="en-US" dirty="0"/>
          </a:p>
        </p:txBody>
      </p:sp>
    </p:spTree>
    <p:extLst>
      <p:ext uri="{BB962C8B-B14F-4D97-AF65-F5344CB8AC3E}">
        <p14:creationId xmlns:p14="http://schemas.microsoft.com/office/powerpoint/2010/main" val="40080453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a:t>Principles: The Foundation</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p:txBody>
          <a:bodyPr vert="horz" lIns="91440" tIns="45720" rIns="91440" bIns="45720" rtlCol="0" anchor="t">
            <a:normAutofit fontScale="85000" lnSpcReduction="10000"/>
          </a:bodyPr>
          <a:lstStyle/>
          <a:p>
            <a:r>
              <a:rPr lang="en-US" dirty="0"/>
              <a:t>c) Diverse Empowered Teams</a:t>
            </a:r>
          </a:p>
          <a:p>
            <a:r>
              <a:rPr lang="en-US" dirty="0"/>
              <a:t>📌 Significance:</a:t>
            </a:r>
          </a:p>
          <a:p>
            <a:r>
              <a:rPr lang="en-US" dirty="0"/>
              <a:t>Encourages cross-functional collaboration among designers, engineers, business strategists, and end-users.</a:t>
            </a:r>
          </a:p>
          <a:p>
            <a:r>
              <a:rPr lang="en-US" dirty="0"/>
              <a:t>Promotes diversity, leading to more creative and inclusive solutions.</a:t>
            </a:r>
          </a:p>
          <a:p>
            <a:r>
              <a:rPr lang="en-US" dirty="0"/>
              <a:t>Ensures that decisions are made collectively, preventing </a:t>
            </a:r>
            <a:r>
              <a:rPr lang="en-US" dirty="0" err="1"/>
              <a:t>siloed</a:t>
            </a:r>
            <a:r>
              <a:rPr lang="en-US" dirty="0"/>
              <a:t> thinking.</a:t>
            </a:r>
          </a:p>
          <a:p>
            <a:r>
              <a:rPr lang="en-US" dirty="0"/>
              <a:t>💡 Example:</a:t>
            </a:r>
          </a:p>
          <a:p>
            <a:r>
              <a:rPr lang="en-US" dirty="0"/>
              <a:t>While developing IBM SPSS (predictive analytics software), IBM involved data scientists, UI/UX designers, and business consultants. This collaboration ensured that both technical accuracy and user-friendliness were considered, making the tool accessible for non-technical users.</a:t>
            </a:r>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1298937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smtClean="0"/>
              <a:t>Loops: </a:t>
            </a:r>
            <a:r>
              <a:rPr lang="en-US" dirty="0"/>
              <a:t>The </a:t>
            </a:r>
            <a:r>
              <a:rPr lang="en-US" dirty="0" smtClean="0"/>
              <a:t>Iterations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a:xfrm>
            <a:off x="838200" y="1473958"/>
            <a:ext cx="10515600" cy="4940490"/>
          </a:xfrm>
        </p:spPr>
        <p:txBody>
          <a:bodyPr vert="horz" lIns="91440" tIns="45720" rIns="91440" bIns="45720" rtlCol="0" anchor="t">
            <a:normAutofit fontScale="85000" lnSpcReduction="20000"/>
          </a:bodyPr>
          <a:lstStyle/>
          <a:p>
            <a:r>
              <a:rPr lang="en-US" dirty="0"/>
              <a:t>What are the </a:t>
            </a:r>
            <a:r>
              <a:rPr lang="en-US" dirty="0" smtClean="0"/>
              <a:t>Loops</a:t>
            </a:r>
            <a:r>
              <a:rPr lang="en-US" dirty="0" smtClean="0"/>
              <a:t>?</a:t>
            </a:r>
            <a:endParaRPr lang="en-US" dirty="0"/>
          </a:p>
          <a:p>
            <a:r>
              <a:rPr lang="en-US" dirty="0"/>
              <a:t>The Loop (Observe → Reflect → Make) represents a continuous, iterative process that ensures solutions evolve based on real-world feedback. Unlike traditional linear processes, the Loop is flexible and dynamic, allowing constant learning and </a:t>
            </a:r>
            <a:r>
              <a:rPr lang="en-US" dirty="0" smtClean="0"/>
              <a:t>refinement.</a:t>
            </a:r>
          </a:p>
          <a:p>
            <a:pPr marL="0" indent="0">
              <a:buNone/>
            </a:pPr>
            <a:r>
              <a:rPr lang="en-US" dirty="0" smtClean="0"/>
              <a:t>(</a:t>
            </a:r>
            <a:r>
              <a:rPr lang="en-US" dirty="0"/>
              <a:t>a) Observe</a:t>
            </a:r>
          </a:p>
          <a:p>
            <a:r>
              <a:rPr lang="en-US" dirty="0"/>
              <a:t>Significance: Focuses on deeply understanding user needs and behaviors.</a:t>
            </a:r>
          </a:p>
          <a:p>
            <a:r>
              <a:rPr lang="en-US" dirty="0"/>
              <a:t>Impact:</a:t>
            </a:r>
          </a:p>
          <a:p>
            <a:pPr lvl="1"/>
            <a:r>
              <a:rPr lang="en-US" dirty="0"/>
              <a:t>Ensures products solve real-world problems.</a:t>
            </a:r>
          </a:p>
          <a:p>
            <a:pPr lvl="1"/>
            <a:r>
              <a:rPr lang="en-US" dirty="0"/>
              <a:t>Avoids assumption-driven development.</a:t>
            </a:r>
          </a:p>
          <a:p>
            <a:pPr lvl="1"/>
            <a:r>
              <a:rPr lang="en-US" dirty="0"/>
              <a:t>Provides data-driven insights for decision-making.</a:t>
            </a:r>
          </a:p>
          <a:p>
            <a:r>
              <a:rPr lang="en-US" dirty="0"/>
              <a:t>✅ Example:</a:t>
            </a:r>
            <a:br>
              <a:rPr lang="en-US" dirty="0"/>
            </a:br>
            <a:r>
              <a:rPr lang="en-US" dirty="0"/>
              <a:t>IBM’s </a:t>
            </a:r>
            <a:r>
              <a:rPr lang="en-US" dirty="0" err="1"/>
              <a:t>Chatbot</a:t>
            </a:r>
            <a:r>
              <a:rPr lang="en-US" dirty="0"/>
              <a:t> for Customer Support was initially designed to handle basic queries. However, through user observation and feedback, IBM realized that users struggled with complex requests. This led to an AI upgrade, making the </a:t>
            </a:r>
            <a:r>
              <a:rPr lang="en-US" dirty="0" err="1"/>
              <a:t>chatbot</a:t>
            </a:r>
            <a:r>
              <a:rPr lang="en-US" dirty="0"/>
              <a:t> capable of handling detailed troubleshooting steps.</a:t>
            </a:r>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13899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smtClean="0"/>
              <a:t>Loops</a:t>
            </a:r>
            <a:r>
              <a:rPr lang="en-US" dirty="0"/>
              <a:t>: The Iterations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a:xfrm>
            <a:off x="838200" y="1473958"/>
            <a:ext cx="10515600" cy="4940490"/>
          </a:xfrm>
        </p:spPr>
        <p:txBody>
          <a:bodyPr vert="horz" lIns="91440" tIns="45720" rIns="91440" bIns="45720" rtlCol="0" anchor="t">
            <a:normAutofit fontScale="92500"/>
          </a:bodyPr>
          <a:lstStyle/>
          <a:p>
            <a:pPr marL="0" indent="0">
              <a:buNone/>
            </a:pPr>
            <a:r>
              <a:rPr lang="en-US" dirty="0"/>
              <a:t>(b) Reflect</a:t>
            </a:r>
          </a:p>
          <a:p>
            <a:r>
              <a:rPr lang="en-US" dirty="0"/>
              <a:t>Significance: Helps teams synthesize observations into actionable insights.</a:t>
            </a:r>
          </a:p>
          <a:p>
            <a:r>
              <a:rPr lang="en-US" dirty="0"/>
              <a:t>Impact:</a:t>
            </a:r>
          </a:p>
          <a:p>
            <a:pPr lvl="1"/>
            <a:r>
              <a:rPr lang="en-US" dirty="0"/>
              <a:t>Aligns teams around clear problems.</a:t>
            </a:r>
          </a:p>
          <a:p>
            <a:pPr lvl="1"/>
            <a:r>
              <a:rPr lang="en-US" dirty="0"/>
              <a:t>Prevents wasted effort by focusing on the right issues.</a:t>
            </a:r>
          </a:p>
          <a:p>
            <a:pPr lvl="1"/>
            <a:r>
              <a:rPr lang="en-US" dirty="0"/>
              <a:t>Ensures that solutions are validated before full-scale implementation.</a:t>
            </a:r>
          </a:p>
          <a:p>
            <a:r>
              <a:rPr lang="en-US" dirty="0"/>
              <a:t>✅ Example:</a:t>
            </a:r>
            <a:br>
              <a:rPr lang="en-US" dirty="0"/>
            </a:br>
            <a:r>
              <a:rPr lang="en-US" dirty="0"/>
              <a:t>IBM worked with a banking client that wanted to improve mobile banking engagement. Instead of directly launching new features, IBM analyzed user pain points (e.g., difficulty in navigation). This led to a simplified mobile app design, resulting in higher user retention.</a:t>
            </a:r>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4115652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smtClean="0"/>
              <a:t>Loops</a:t>
            </a:r>
            <a:r>
              <a:rPr lang="en-US" dirty="0"/>
              <a:t>: The Iterations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a:xfrm>
            <a:off x="838200" y="1473958"/>
            <a:ext cx="10515600" cy="4940490"/>
          </a:xfrm>
        </p:spPr>
        <p:txBody>
          <a:bodyPr vert="horz" lIns="91440" tIns="45720" rIns="91440" bIns="45720" rtlCol="0" anchor="t">
            <a:normAutofit lnSpcReduction="10000"/>
          </a:bodyPr>
          <a:lstStyle/>
          <a:p>
            <a:pPr marL="0" indent="0">
              <a:buNone/>
            </a:pPr>
            <a:r>
              <a:rPr lang="en-US" dirty="0"/>
              <a:t>(c) Make</a:t>
            </a:r>
          </a:p>
          <a:p>
            <a:r>
              <a:rPr lang="en-US" dirty="0"/>
              <a:t>Significance: Encourages rapid prototyping and testing.</a:t>
            </a:r>
          </a:p>
          <a:p>
            <a:r>
              <a:rPr lang="en-US" dirty="0"/>
              <a:t>Impact:</a:t>
            </a:r>
          </a:p>
          <a:p>
            <a:pPr lvl="1"/>
            <a:r>
              <a:rPr lang="en-US" dirty="0"/>
              <a:t>Reduces development risks by testing early.</a:t>
            </a:r>
          </a:p>
          <a:p>
            <a:pPr lvl="1"/>
            <a:r>
              <a:rPr lang="en-US" dirty="0"/>
              <a:t>Speeds up time to market.</a:t>
            </a:r>
          </a:p>
          <a:p>
            <a:pPr lvl="1"/>
            <a:r>
              <a:rPr lang="en-US" dirty="0"/>
              <a:t>Ensures that solutions are continuously refined.</a:t>
            </a:r>
          </a:p>
          <a:p>
            <a:r>
              <a:rPr lang="en-US" dirty="0"/>
              <a:t>✅ Example:</a:t>
            </a:r>
            <a:br>
              <a:rPr lang="en-US" dirty="0"/>
            </a:br>
            <a:r>
              <a:rPr lang="en-US" dirty="0"/>
              <a:t>IBM designed an AI-powered recruitment tool for HR teams. Instead of developing the full product upfront, they created small prototypes, tested them with HR professionals, and refined the product based on feedback. This reduced costs and ensured high user adoption.</a:t>
            </a:r>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2436920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smtClean="0"/>
              <a:t>Keys: </a:t>
            </a:r>
            <a:r>
              <a:rPr lang="en-US" dirty="0"/>
              <a:t>The </a:t>
            </a:r>
            <a:r>
              <a:rPr lang="en-US" dirty="0" smtClean="0"/>
              <a:t>Elements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a:xfrm>
            <a:off x="838200" y="1473958"/>
            <a:ext cx="10515600" cy="4940490"/>
          </a:xfrm>
        </p:spPr>
        <p:txBody>
          <a:bodyPr vert="horz" lIns="91440" tIns="45720" rIns="91440" bIns="45720" rtlCol="0" anchor="t">
            <a:normAutofit fontScale="85000" lnSpcReduction="20000"/>
          </a:bodyPr>
          <a:lstStyle/>
          <a:p>
            <a:r>
              <a:rPr lang="en-US" dirty="0"/>
              <a:t>What are the </a:t>
            </a:r>
            <a:r>
              <a:rPr lang="en-US" dirty="0" smtClean="0"/>
              <a:t>Keys</a:t>
            </a:r>
            <a:r>
              <a:rPr lang="en-US" dirty="0" smtClean="0"/>
              <a:t>?</a:t>
            </a:r>
            <a:endParaRPr lang="en-US" dirty="0"/>
          </a:p>
          <a:p>
            <a:r>
              <a:rPr lang="en-US" dirty="0"/>
              <a:t>IBM Design Thinking uses three key elements—Hills, Sponsor Users, and Playbacks—to </a:t>
            </a:r>
            <a:r>
              <a:rPr lang="en-US" dirty="0" smtClean="0"/>
              <a:t>scale/align </a:t>
            </a:r>
            <a:r>
              <a:rPr lang="en-US" dirty="0"/>
              <a:t>design thinking across large organizations.</a:t>
            </a:r>
            <a:endParaRPr lang="en-US" dirty="0" smtClean="0"/>
          </a:p>
          <a:p>
            <a:pPr marL="0" indent="0">
              <a:buNone/>
            </a:pPr>
            <a:r>
              <a:rPr lang="en-US" dirty="0"/>
              <a:t>(a) Hills</a:t>
            </a:r>
          </a:p>
          <a:p>
            <a:r>
              <a:rPr lang="en-US" dirty="0"/>
              <a:t>Significance: Provides clear, measurable goals to align teams.</a:t>
            </a:r>
          </a:p>
          <a:p>
            <a:r>
              <a:rPr lang="en-US" dirty="0"/>
              <a:t>Impact:</a:t>
            </a:r>
          </a:p>
          <a:p>
            <a:pPr lvl="1"/>
            <a:r>
              <a:rPr lang="en-US" dirty="0"/>
              <a:t>Prevents projects from losing focus.</a:t>
            </a:r>
          </a:p>
          <a:p>
            <a:pPr lvl="1"/>
            <a:r>
              <a:rPr lang="en-US" dirty="0"/>
              <a:t>Ensures business and user needs are aligned.</a:t>
            </a:r>
          </a:p>
          <a:p>
            <a:pPr lvl="1"/>
            <a:r>
              <a:rPr lang="en-US" dirty="0"/>
              <a:t>Makes progress trackable and measurable.</a:t>
            </a:r>
          </a:p>
          <a:p>
            <a:r>
              <a:rPr lang="en-US" dirty="0"/>
              <a:t>✅ Example:</a:t>
            </a:r>
            <a:br>
              <a:rPr lang="en-US" dirty="0"/>
            </a:br>
            <a:r>
              <a:rPr lang="en-US" dirty="0"/>
              <a:t>For a project improving IBM Cloud security, a vague goal would be </a:t>
            </a:r>
            <a:r>
              <a:rPr lang="en-US" i="1" dirty="0"/>
              <a:t>“Make cloud security better”</a:t>
            </a:r>
            <a:r>
              <a:rPr lang="en-US" dirty="0"/>
              <a:t>. Instead, using Hills, the team set a clear objective:</a:t>
            </a:r>
            <a:br>
              <a:rPr lang="en-US" dirty="0"/>
            </a:br>
            <a:r>
              <a:rPr lang="en-US" dirty="0"/>
              <a:t>🟢 </a:t>
            </a:r>
            <a:r>
              <a:rPr lang="en-US" i="1" dirty="0"/>
              <a:t>“Enable users to set up security policies in under 3 minutes without errors.”</a:t>
            </a:r>
            <a:r>
              <a:rPr lang="en-US" dirty="0"/>
              <a:t/>
            </a:r>
            <a:br>
              <a:rPr lang="en-US" dirty="0"/>
            </a:br>
            <a:r>
              <a:rPr lang="en-US" dirty="0"/>
              <a:t>This specificity helped developers and designers focus on user needs</a:t>
            </a:r>
            <a:r>
              <a:rPr lang="en-US" dirty="0" smtClean="0"/>
              <a:t>.</a:t>
            </a:r>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6759636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smtClean="0"/>
              <a:t>Keys: </a:t>
            </a:r>
            <a:r>
              <a:rPr lang="en-US" dirty="0"/>
              <a:t>The </a:t>
            </a:r>
            <a:r>
              <a:rPr lang="en-US" dirty="0" smtClean="0"/>
              <a:t>Elements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a:xfrm>
            <a:off x="838200" y="1473958"/>
            <a:ext cx="10515600" cy="4940490"/>
          </a:xfrm>
        </p:spPr>
        <p:txBody>
          <a:bodyPr vert="horz" lIns="91440" tIns="45720" rIns="91440" bIns="45720" rtlCol="0" anchor="t">
            <a:normAutofit/>
          </a:bodyPr>
          <a:lstStyle/>
          <a:p>
            <a:pPr marL="0" indent="0">
              <a:buNone/>
            </a:pPr>
            <a:r>
              <a:rPr lang="en-US" dirty="0"/>
              <a:t>(b) Sponsor Users</a:t>
            </a:r>
          </a:p>
          <a:p>
            <a:r>
              <a:rPr lang="en-US" dirty="0"/>
              <a:t>Significance: Involves real users throughout development.</a:t>
            </a:r>
          </a:p>
          <a:p>
            <a:r>
              <a:rPr lang="en-US" dirty="0"/>
              <a:t>Impact:</a:t>
            </a:r>
          </a:p>
          <a:p>
            <a:pPr lvl="1"/>
            <a:r>
              <a:rPr lang="en-US" dirty="0"/>
              <a:t>Ensures that solutions meet actual needs.</a:t>
            </a:r>
          </a:p>
          <a:p>
            <a:pPr lvl="1"/>
            <a:r>
              <a:rPr lang="en-US" dirty="0"/>
              <a:t>Reduces risk by testing early and often.</a:t>
            </a:r>
          </a:p>
          <a:p>
            <a:pPr lvl="1"/>
            <a:r>
              <a:rPr lang="en-US" dirty="0"/>
              <a:t>Helps teams stay customer-focused.</a:t>
            </a:r>
          </a:p>
          <a:p>
            <a:r>
              <a:rPr lang="en-US" dirty="0"/>
              <a:t>✅ Example:</a:t>
            </a:r>
            <a:br>
              <a:rPr lang="en-US" dirty="0"/>
            </a:br>
            <a:r>
              <a:rPr lang="en-US" dirty="0"/>
              <a:t>IBM worked with hospital administrators while developing Watson Health AI. Instead of relying on assumptions, they directly consulted doctors and nurses, ensuring the tool met real medical workflow requirements.</a:t>
            </a:r>
          </a:p>
          <a:p>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78760464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222936C-95B8-0073-A638-A55495736D21}"/>
              </a:ext>
            </a:extLst>
          </p:cNvPr>
          <p:cNvSpPr>
            <a:spLocks noGrp="1"/>
          </p:cNvSpPr>
          <p:nvPr>
            <p:ph type="title"/>
          </p:nvPr>
        </p:nvSpPr>
        <p:spPr/>
        <p:txBody>
          <a:bodyPr/>
          <a:lstStyle/>
          <a:p>
            <a:r>
              <a:rPr lang="en-US" dirty="0" smtClean="0"/>
              <a:t>Keys: </a:t>
            </a:r>
            <a:r>
              <a:rPr lang="en-US" dirty="0"/>
              <a:t>The </a:t>
            </a:r>
            <a:r>
              <a:rPr lang="en-US" dirty="0" smtClean="0"/>
              <a:t>Elements</a:t>
            </a:r>
            <a:endParaRPr lang="en-US" b="1" dirty="0"/>
          </a:p>
        </p:txBody>
      </p:sp>
      <p:sp>
        <p:nvSpPr>
          <p:cNvPr id="3" name="Content Placeholder 2">
            <a:extLst>
              <a:ext uri="{FF2B5EF4-FFF2-40B4-BE49-F238E27FC236}">
                <a16:creationId xmlns:a16="http://schemas.microsoft.com/office/drawing/2014/main" xmlns="" id="{09E7F86C-8ADF-DFC2-9388-B0DC309DF9D4}"/>
              </a:ext>
            </a:extLst>
          </p:cNvPr>
          <p:cNvSpPr>
            <a:spLocks noGrp="1"/>
          </p:cNvSpPr>
          <p:nvPr>
            <p:ph idx="1"/>
          </p:nvPr>
        </p:nvSpPr>
        <p:spPr>
          <a:xfrm>
            <a:off x="838200" y="1473958"/>
            <a:ext cx="10515600" cy="4940490"/>
          </a:xfrm>
        </p:spPr>
        <p:txBody>
          <a:bodyPr vert="horz" lIns="91440" tIns="45720" rIns="91440" bIns="45720" rtlCol="0" anchor="t">
            <a:normAutofit lnSpcReduction="10000"/>
          </a:bodyPr>
          <a:lstStyle/>
          <a:p>
            <a:pPr marL="0" indent="0">
              <a:buNone/>
            </a:pPr>
            <a:r>
              <a:rPr lang="en-US" dirty="0"/>
              <a:t>(c) Playbacks</a:t>
            </a:r>
          </a:p>
          <a:p>
            <a:r>
              <a:rPr lang="en-US" dirty="0"/>
              <a:t>Significance: Regular team reviews and feedback loops ensure that projects stay on track.</a:t>
            </a:r>
          </a:p>
          <a:p>
            <a:r>
              <a:rPr lang="en-US" dirty="0"/>
              <a:t>Impact:</a:t>
            </a:r>
          </a:p>
          <a:p>
            <a:pPr lvl="1"/>
            <a:r>
              <a:rPr lang="en-US" dirty="0"/>
              <a:t>Improves cross-team alignment.</a:t>
            </a:r>
          </a:p>
          <a:p>
            <a:pPr lvl="1"/>
            <a:r>
              <a:rPr lang="en-US" dirty="0"/>
              <a:t>Identifies issues early, reducing costs.</a:t>
            </a:r>
          </a:p>
          <a:p>
            <a:pPr lvl="1"/>
            <a:r>
              <a:rPr lang="en-US" dirty="0"/>
              <a:t>Encourages collaborative problem-solving.</a:t>
            </a:r>
          </a:p>
          <a:p>
            <a:r>
              <a:rPr lang="en-US" dirty="0"/>
              <a:t>✅ Example:</a:t>
            </a:r>
            <a:br>
              <a:rPr lang="en-US" dirty="0"/>
            </a:br>
            <a:r>
              <a:rPr lang="en-US" dirty="0"/>
              <a:t>When designing a data analytics dashboard, IBM held weekly playbacks where designers, engineers, and executives reviewed progress. This ensured that technical feasibility and business goals remained aligned</a:t>
            </a:r>
            <a:r>
              <a:rPr lang="en-US" dirty="0" smtClean="0"/>
              <a:t>.</a:t>
            </a:r>
            <a:endParaRPr lang="en-US" dirty="0"/>
          </a:p>
        </p:txBody>
      </p:sp>
      <p:pic>
        <p:nvPicPr>
          <p:cNvPr id="5" name="Picture 4" descr="A black and white logo&#10;&#10;AI-generated content may be incorrect.">
            <a:extLst>
              <a:ext uri="{FF2B5EF4-FFF2-40B4-BE49-F238E27FC236}">
                <a16:creationId xmlns:a16="http://schemas.microsoft.com/office/drawing/2014/main" xmlns="" id="{7D3EA213-6329-0184-9DD9-4F14FD29D1BA}"/>
              </a:ext>
            </a:extLst>
          </p:cNvPr>
          <p:cNvPicPr>
            <a:picLocks noChangeAspect="1"/>
          </p:cNvPicPr>
          <p:nvPr/>
        </p:nvPicPr>
        <p:blipFill>
          <a:blip r:embed="rId2"/>
          <a:stretch>
            <a:fillRect/>
          </a:stretch>
        </p:blipFill>
        <p:spPr>
          <a:xfrm>
            <a:off x="10661671" y="38166"/>
            <a:ext cx="1369645" cy="664793"/>
          </a:xfrm>
          <a:prstGeom prst="rect">
            <a:avLst/>
          </a:prstGeom>
        </p:spPr>
      </p:pic>
    </p:spTree>
    <p:extLst>
      <p:ext uri="{BB962C8B-B14F-4D97-AF65-F5344CB8AC3E}">
        <p14:creationId xmlns:p14="http://schemas.microsoft.com/office/powerpoint/2010/main" val="3337634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364</TotalTime>
  <Words>1969</Words>
  <Application>Microsoft Office PowerPoint</Application>
  <PresentationFormat>Widescreen</PresentationFormat>
  <Paragraphs>190</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Aptos</vt:lpstr>
      <vt:lpstr>Aptos Display</vt:lpstr>
      <vt:lpstr>Arial</vt:lpstr>
      <vt:lpstr>Calibri</vt:lpstr>
      <vt:lpstr>Times New Roman</vt:lpstr>
      <vt:lpstr>office theme</vt:lpstr>
      <vt:lpstr> </vt:lpstr>
      <vt:lpstr>Design Thinking - Introduction</vt:lpstr>
      <vt:lpstr>The Importance of Design Thinking</vt:lpstr>
      <vt:lpstr>1. Human-Centered Problem-Solving</vt:lpstr>
      <vt:lpstr>2. Encourages Innovation and Creativity</vt:lpstr>
      <vt:lpstr>3. Reduces Risks and Costs</vt:lpstr>
      <vt:lpstr>4. Fosters Collaboration Across Disciplines</vt:lpstr>
      <vt:lpstr>5. Enhances Customer Experience and Satisfaction</vt:lpstr>
      <vt:lpstr>6. Supports Business Growth and Competitive Advantage</vt:lpstr>
      <vt:lpstr>7. Applicable to Any Industry</vt:lpstr>
      <vt:lpstr>The History of Design Thinking</vt:lpstr>
      <vt:lpstr>The History of Design Thinking</vt:lpstr>
      <vt:lpstr>IBM Design Thinking Framework</vt:lpstr>
      <vt:lpstr>How IBM Design Thinking Differs from Traditional Design Thinking</vt:lpstr>
      <vt:lpstr>Benefits of IBM Design Thinking</vt:lpstr>
      <vt:lpstr>Real-World Applications</vt:lpstr>
      <vt:lpstr>The Significance of IBM Design Thinking Principles, Loops, and Keys</vt:lpstr>
      <vt:lpstr>Principles: The Foundation</vt:lpstr>
      <vt:lpstr>Principles: The Foundation</vt:lpstr>
      <vt:lpstr>Principles: The Foundation</vt:lpstr>
      <vt:lpstr>Loops: The Iterations</vt:lpstr>
      <vt:lpstr>Loops: The Iterations</vt:lpstr>
      <vt:lpstr>Loops: The Iterations</vt:lpstr>
      <vt:lpstr>Keys: The Elements</vt:lpstr>
      <vt:lpstr>Keys: The Elements</vt:lpstr>
      <vt:lpstr>Keys: The Elements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
  <cp:lastModifiedBy>ADMIN</cp:lastModifiedBy>
  <cp:revision>231</cp:revision>
  <dcterms:created xsi:type="dcterms:W3CDTF">2025-01-03T03:28:48Z</dcterms:created>
  <dcterms:modified xsi:type="dcterms:W3CDTF">2025-02-08T13:02:30Z</dcterms:modified>
</cp:coreProperties>
</file>